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953e97a-67f5-05e3-7996-5da380288192}">
          <p14:sldIdLst>
            <p14:sldId id="256"/>
          </p14:sldIdLst>
        </p14:section>
        <p14:section name="Content" id="{8a42cca5-e414-4a8e-9aef-b263120af27f}">
          <p14:sldIdLst>
            <p14:sldId id="257"/>
            <p14:sldId id="258"/>
            <p14:sldId id="259"/>
            <p14:sldId id="260"/>
          </p14:sldIdLst>
        </p14:section>
        <p14:section name="References" id="{a6b324be-f9eb-e109-8234-3b8c6056fd21}">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(~20 s). Hi, we are [team]. Our project is called Already Baked In. Using the UN World Population Prospects 2024, we split every country's population change between 2024 and 2100 into four exact factors: the momentum of today's age structure, falling mortality, fertility, and migration. The line on this slide is the whole world in one equation: 8.13 billion people today, times those four factors, gives 10.17 billion by 2100.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(~55 s). Most population stories start and end with the fertility rate. This chart shows why that is not enough. Each bubble is a country: across is its 2024 fertility rate, up is its projected change to 2100. Fertility clearly matters, but look left of the replacement line at 2.1. 131 countries are already below replacement, yet 51 of them, home to 2.6 billion people, still have age structures that push growth, and 26 will still be larger in 2100. First we cleaned the data: the raw file mixes countries with 318 regional and income aggregates, so we kept the 237 countries and checked that they add up exactly to the UN world total. Our question: how do the four forces combine, country by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(~70 s). How do we separate the forces? The UN publishes alternative runs of its projection, and four of them form a chain. The momentum run fixes fertility at replacement, freezes mortality and removes migration, so it shows what today's age structure alone would do. Adding the projected fall in mortality, then projected fertility, then migration, we arrive at the official medium projection. Each step is a ratio, so the four factors multiply exactly to the total. For the world, age structure alone takes us from 8.1 to 9.6 billion, longer lives add more, and fertility, at ×0.95, already pulls the total down. The surprise is on the right: if every woman had exactly 2.1 children starting today, the world would reach 10.7 billion, more than the UN's own path. This century's growth is already baked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(~65 s). Here is the same split for each region and for large countries. Segments to the right push population up, to the left pull it down, and the diamond is the net result. Africa more than doubles because a young population and above-replacement fertility compound. Europe shrinks by 21%, and migration is the main force holding it up; without it the change would be −40%. India and Canada both have below-replacement fertility, yet India grows on momentum and Canada on migration. Türkiye shrinks by about a quarter: low fertility and projected emigration outweigh its young age structure. Across all countries, fertility explains 59% of the differences in growth, momentum 32% and migration 9%, so no single indicator is enough. A second chain of UN runs gives the same main driver for 97%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(~60 s). How sure can we be? For the median country, the UN's 95% range for 2100 spans a factor of about 6. That width depends mostly on size, not on which engine drives growth: small, migration-dependent places like Singapore and Qatar are the most uncertain, and for three places the lower bound is exactly zero, a model artefact we flag. Following the ASA ethical guidelines, we treat projections as scenarios and show their uncertainty. The zero-migration and replacement-fertility runs are accounting tools, not policy targets: decisions about children belong to people. We describe migration without crisis language. We report both country counts and population weights, because weighting changes the answer. And our code is open, so anyone can reproduce every number. Our takeaway: most of this century's growth is baked in by today's age structure, and fertility, momentum and migration must be read together.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457200" y="6492240"/>
            <a:ext cx="8229600" cy="228600"/>
          </a:xfrm>
          <a:prstGeom prst="rect">
            <a:avLst/>
          </a:prstGeom>
          <a:noFill/>
          <a:ln/>
        </p:spPr>
        <p:txBody>
          <a:bodyPr wrap="square" lIns="0" tIns="0" rIns="0" bIns="0" rtlCol="0" anchor="ctr"/>
          <a:lstStyle/>
          <a:p>
            <a:pPr indent="0" marL="0">
              <a:buNone/>
            </a:pPr>
            <a:r>
              <a:rPr lang="en-US" sz="900" dirty="0">
                <a:solidFill>
                  <a:schemeClr val="accent5"/>
                </a:solidFill>
              </a:rPr>
              <a:t>ASA International DataQuest 2026 · Data: UN World Population Prospects 2024</a:t>
            </a:r>
            <a:endParaRPr lang="en-US" sz="9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10058400" cy="320040"/>
          </a:xfrm>
          <a:prstGeom prst="rect">
            <a:avLst/>
          </a:prstGeom>
          <a:noFill/>
          <a:ln/>
        </p:spPr>
        <p:txBody>
          <a:bodyPr wrap="square" lIns="0" tIns="0" rIns="0" bIns="0" rtlCol="0" anchor="ctr"/>
          <a:lstStyle/>
          <a:p>
            <a:pPr indent="0" marL="0">
              <a:buNone/>
            </a:pPr>
            <a:r>
              <a:rPr lang="en-US" sz="1200" b="1" spc="300" kern="0" dirty="0">
                <a:solidFill>
                  <a:srgbClr val="9EC5F4"/>
                </a:solidFill>
              </a:rPr>
              <a:t>ASA INTERNATIONAL DATAQUEST 2026 · TÜRKİYE</a:t>
            </a:r>
            <a:endParaRPr lang="en-US" sz="1200" dirty="0"/>
          </a:p>
        </p:txBody>
      </p:sp>
      <p:sp>
        <p:nvSpPr>
          <p:cNvPr id="3" name="Text 1"/>
          <p:cNvSpPr txBox="1"/>
          <p:nvPr/>
        </p:nvSpPr>
        <p:spPr>
          <a:xfrm>
            <a:off x="640080" y="1097280"/>
            <a:ext cx="10515600" cy="1005840"/>
          </a:xfrm>
          <a:prstGeom prst="rect">
            <a:avLst/>
          </a:prstGeom>
          <a:noFill/>
          <a:ln/>
        </p:spPr>
        <p:txBody>
          <a:bodyPr wrap="square" lIns="0" tIns="0" rIns="0" bIns="0" rtlCol="0" anchor="ctr"/>
          <a:lstStyle/>
          <a:p>
            <a:pPr indent="0" marL="0">
              <a:buNone/>
            </a:pPr>
            <a:r>
              <a:rPr lang="en-US" sz="5400" b="1" dirty="0">
                <a:solidFill>
                  <a:srgbClr val="FFFFFF"/>
                </a:solidFill>
              </a:rPr>
              <a:t>Already Baked In</a:t>
            </a:r>
            <a:endParaRPr lang="en-US" sz="5400" dirty="0"/>
          </a:p>
        </p:txBody>
      </p:sp>
      <p:sp>
        <p:nvSpPr>
          <p:cNvPr id="4" name="Text 2"/>
          <p:cNvSpPr txBox="1"/>
          <p:nvPr/>
        </p:nvSpPr>
        <p:spPr>
          <a:xfrm>
            <a:off x="640080" y="2103120"/>
            <a:ext cx="9601200" cy="822960"/>
          </a:xfrm>
          <a:prstGeom prst="rect">
            <a:avLst/>
          </a:prstGeom>
          <a:noFill/>
          <a:ln/>
        </p:spPr>
        <p:txBody>
          <a:bodyPr wrap="square" lIns="0" tIns="0" rIns="0" bIns="0" rtlCol="0" anchor="ctr"/>
          <a:lstStyle/>
          <a:p>
            <a:pPr indent="0" marL="0">
              <a:buNone/>
            </a:pPr>
            <a:r>
              <a:rPr lang="en-US" sz="2200" dirty="0">
                <a:solidFill>
                  <a:srgbClr val="DCE6F5"/>
                </a:solidFill>
              </a:rPr>
              <a:t>Splitting every country's population change to 2100 into momentum, mortality, fertility and migration</a:t>
            </a:r>
            <a:endParaRPr lang="en-US" sz="2200" dirty="0"/>
          </a:p>
        </p:txBody>
      </p:sp>
      <p:sp>
        <p:nvSpPr>
          <p:cNvPr id="5" name="Text 3"/>
          <p:cNvSpPr txBox="1"/>
          <p:nvPr/>
        </p:nvSpPr>
        <p:spPr>
          <a:xfrm>
            <a:off x="640080" y="3520440"/>
            <a:ext cx="1234440" cy="566928"/>
          </a:xfrm>
          <a:prstGeom prst="rect">
            <a:avLst/>
          </a:prstGeom>
          <a:noFill/>
          <a:ln/>
        </p:spPr>
        <p:txBody>
          <a:bodyPr wrap="square" lIns="0" tIns="0" rIns="0" bIns="0" rtlCol="0" anchor="ctr"/>
          <a:lstStyle/>
          <a:p>
            <a:pPr algn="ctr" indent="0" marL="0">
              <a:buNone/>
            </a:pPr>
            <a:r>
              <a:rPr lang="en-US" sz="1800" b="1" dirty="0">
                <a:solidFill>
                  <a:srgbClr val="FFFFFF"/>
                </a:solidFill>
              </a:rPr>
              <a:t>8.13 bn</a:t>
            </a:r>
            <a:endParaRPr lang="en-US" sz="1800" dirty="0"/>
          </a:p>
          <a:p>
            <a:pPr algn="ctr" indent="0" marL="0">
              <a:buNone/>
            </a:pPr>
            <a:r>
              <a:rPr lang="en-US" sz="1000" b="1" dirty="0">
                <a:solidFill>
                  <a:srgbClr val="FFFFFF"/>
                </a:solidFill>
              </a:rPr>
              <a:t>2024</a:t>
            </a:r>
            <a:endParaRPr lang="en-US" sz="1800" dirty="0"/>
          </a:p>
        </p:txBody>
      </p:sp>
      <p:sp>
        <p:nvSpPr>
          <p:cNvPr id="6" name="Text 4"/>
          <p:cNvSpPr txBox="1"/>
          <p:nvPr/>
        </p:nvSpPr>
        <p:spPr>
          <a:xfrm>
            <a:off x="1920240" y="3520440"/>
            <a:ext cx="320040" cy="566928"/>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7" name="chip Momentum"/>
          <p:cNvSpPr/>
          <p:nvPr/>
        </p:nvSpPr>
        <p:spPr>
          <a:xfrm>
            <a:off x="2286000" y="3520440"/>
            <a:ext cx="1417320" cy="566928"/>
          </a:xfrm>
          <a:prstGeom prst="roundRect">
            <a:avLst>
              <a:gd name="adj" fmla="val 19355"/>
            </a:avLst>
          </a:prstGeom>
          <a:solidFill>
            <a:srgbClr val="2A78D6"/>
          </a:solidFill>
          <a:ln w="12700">
            <a:solidFill>
              <a:srgbClr val="2A78D6"/>
            </a:solidFill>
            <a:prstDash val="solid"/>
          </a:ln>
        </p:spPr>
      </p:sp>
      <p:sp>
        <p:nvSpPr>
          <p:cNvPr id="8" name="Text 6"/>
          <p:cNvSpPr txBox="1"/>
          <p:nvPr/>
        </p:nvSpPr>
        <p:spPr>
          <a:xfrm>
            <a:off x="2286000" y="3520440"/>
            <a:ext cx="1417320" cy="566928"/>
          </a:xfrm>
          <a:prstGeom prst="rect">
            <a:avLst/>
          </a:prstGeom>
          <a:noFill/>
          <a:ln/>
        </p:spPr>
        <p:txBody>
          <a:bodyPr wrap="square" lIns="0" tIns="0" rIns="0" bIns="0" rtlCol="0" anchor="ctr"/>
          <a:lstStyle/>
          <a:p>
            <a:pPr algn="ctr" indent="0" marL="0">
              <a:buNone/>
            </a:pPr>
            <a:r>
              <a:rPr lang="en-US" sz="1800" b="1" dirty="0">
                <a:solidFill>
                  <a:srgbClr val="FFFFFF"/>
                </a:solidFill>
              </a:rPr>
              <a:t>×1.18</a:t>
            </a:r>
            <a:endParaRPr lang="en-US" sz="1800" dirty="0"/>
          </a:p>
          <a:p>
            <a:pPr algn="ctr" indent="0" marL="0">
              <a:buNone/>
            </a:pPr>
            <a:r>
              <a:rPr lang="en-US" sz="1000" dirty="0">
                <a:solidFill>
                  <a:srgbClr val="FFFFFF"/>
                </a:solidFill>
              </a:rPr>
              <a:t>Momentum</a:t>
            </a:r>
            <a:endParaRPr lang="en-US" sz="1800" dirty="0"/>
          </a:p>
        </p:txBody>
      </p:sp>
      <p:sp>
        <p:nvSpPr>
          <p:cNvPr id="9" name="Text 7"/>
          <p:cNvSpPr txBox="1"/>
          <p:nvPr/>
        </p:nvSpPr>
        <p:spPr>
          <a:xfrm>
            <a:off x="3749040" y="3520440"/>
            <a:ext cx="320040" cy="566928"/>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10" name="chip Mortality"/>
          <p:cNvSpPr/>
          <p:nvPr/>
        </p:nvSpPr>
        <p:spPr>
          <a:xfrm>
            <a:off x="4114800" y="3520440"/>
            <a:ext cx="1417320" cy="566928"/>
          </a:xfrm>
          <a:prstGeom prst="roundRect">
            <a:avLst>
              <a:gd name="adj" fmla="val 19355"/>
            </a:avLst>
          </a:prstGeom>
          <a:solidFill>
            <a:srgbClr val="8D8B85"/>
          </a:solidFill>
          <a:ln w="12700">
            <a:solidFill>
              <a:srgbClr val="8D8B85"/>
            </a:solidFill>
            <a:prstDash val="solid"/>
          </a:ln>
        </p:spPr>
      </p:sp>
      <p:sp>
        <p:nvSpPr>
          <p:cNvPr id="11" name="Text 9"/>
          <p:cNvSpPr txBox="1"/>
          <p:nvPr/>
        </p:nvSpPr>
        <p:spPr>
          <a:xfrm>
            <a:off x="4114800" y="3520440"/>
            <a:ext cx="1417320" cy="566928"/>
          </a:xfrm>
          <a:prstGeom prst="rect">
            <a:avLst/>
          </a:prstGeom>
          <a:noFill/>
          <a:ln/>
        </p:spPr>
        <p:txBody>
          <a:bodyPr wrap="square" lIns="0" tIns="0" rIns="0" bIns="0" rtlCol="0" anchor="ctr"/>
          <a:lstStyle/>
          <a:p>
            <a:pPr algn="ctr" indent="0" marL="0">
              <a:buNone/>
            </a:pPr>
            <a:r>
              <a:rPr lang="en-US" sz="1800" b="1" dirty="0">
                <a:solidFill>
                  <a:srgbClr val="FFFFFF"/>
                </a:solidFill>
              </a:rPr>
              <a:t>×1.11</a:t>
            </a:r>
            <a:endParaRPr lang="en-US" sz="1800" dirty="0"/>
          </a:p>
          <a:p>
            <a:pPr algn="ctr" indent="0" marL="0">
              <a:buNone/>
            </a:pPr>
            <a:r>
              <a:rPr lang="en-US" sz="1000" dirty="0">
                <a:solidFill>
                  <a:srgbClr val="FFFFFF"/>
                </a:solidFill>
              </a:rPr>
              <a:t>Mortality</a:t>
            </a:r>
            <a:endParaRPr lang="en-US" sz="1800" dirty="0"/>
          </a:p>
        </p:txBody>
      </p:sp>
      <p:sp>
        <p:nvSpPr>
          <p:cNvPr id="12" name="Text 10"/>
          <p:cNvSpPr txBox="1"/>
          <p:nvPr/>
        </p:nvSpPr>
        <p:spPr>
          <a:xfrm>
            <a:off x="5577840" y="3520440"/>
            <a:ext cx="320040" cy="566928"/>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13" name="chip Fertility"/>
          <p:cNvSpPr/>
          <p:nvPr/>
        </p:nvSpPr>
        <p:spPr>
          <a:xfrm>
            <a:off x="5943600" y="3520440"/>
            <a:ext cx="1417320" cy="566928"/>
          </a:xfrm>
          <a:prstGeom prst="roundRect">
            <a:avLst>
              <a:gd name="adj" fmla="val 19355"/>
            </a:avLst>
          </a:prstGeom>
          <a:solidFill>
            <a:srgbClr val="EB6834"/>
          </a:solidFill>
          <a:ln w="12700">
            <a:solidFill>
              <a:srgbClr val="EB6834"/>
            </a:solidFill>
            <a:prstDash val="solid"/>
          </a:ln>
        </p:spPr>
      </p:sp>
      <p:sp>
        <p:nvSpPr>
          <p:cNvPr id="14" name="Text 12"/>
          <p:cNvSpPr txBox="1"/>
          <p:nvPr/>
        </p:nvSpPr>
        <p:spPr>
          <a:xfrm>
            <a:off x="5943600" y="3520440"/>
            <a:ext cx="1417320" cy="566928"/>
          </a:xfrm>
          <a:prstGeom prst="rect">
            <a:avLst/>
          </a:prstGeom>
          <a:noFill/>
          <a:ln/>
        </p:spPr>
        <p:txBody>
          <a:bodyPr wrap="square" lIns="0" tIns="0" rIns="0" bIns="0" rtlCol="0" anchor="ctr"/>
          <a:lstStyle/>
          <a:p>
            <a:pPr algn="ctr" indent="0" marL="0">
              <a:buNone/>
            </a:pPr>
            <a:r>
              <a:rPr lang="en-US" sz="1800" b="1" dirty="0">
                <a:solidFill>
                  <a:srgbClr val="FFFFFF"/>
                </a:solidFill>
              </a:rPr>
              <a:t>×0.95</a:t>
            </a:r>
            <a:endParaRPr lang="en-US" sz="1800" dirty="0"/>
          </a:p>
          <a:p>
            <a:pPr algn="ctr" indent="0" marL="0">
              <a:buNone/>
            </a:pPr>
            <a:r>
              <a:rPr lang="en-US" sz="1000" dirty="0">
                <a:solidFill>
                  <a:srgbClr val="FFFFFF"/>
                </a:solidFill>
              </a:rPr>
              <a:t>Fertility</a:t>
            </a:r>
            <a:endParaRPr lang="en-US" sz="1800" dirty="0"/>
          </a:p>
        </p:txBody>
      </p:sp>
      <p:sp>
        <p:nvSpPr>
          <p:cNvPr id="15" name="Text 13"/>
          <p:cNvSpPr txBox="1"/>
          <p:nvPr/>
        </p:nvSpPr>
        <p:spPr>
          <a:xfrm>
            <a:off x="7406640" y="3520440"/>
            <a:ext cx="320040" cy="566928"/>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16" name="chip Migration"/>
          <p:cNvSpPr/>
          <p:nvPr/>
        </p:nvSpPr>
        <p:spPr>
          <a:xfrm>
            <a:off x="7772400" y="3520440"/>
            <a:ext cx="1417320" cy="566928"/>
          </a:xfrm>
          <a:prstGeom prst="roundRect">
            <a:avLst>
              <a:gd name="adj" fmla="val 19355"/>
            </a:avLst>
          </a:prstGeom>
          <a:solidFill>
            <a:srgbClr val="1BAF7A"/>
          </a:solidFill>
          <a:ln w="12700">
            <a:solidFill>
              <a:srgbClr val="1BAF7A"/>
            </a:solidFill>
            <a:prstDash val="solid"/>
          </a:ln>
        </p:spPr>
      </p:sp>
      <p:sp>
        <p:nvSpPr>
          <p:cNvPr id="17" name="Text 15"/>
          <p:cNvSpPr txBox="1"/>
          <p:nvPr/>
        </p:nvSpPr>
        <p:spPr>
          <a:xfrm>
            <a:off x="7772400" y="3520440"/>
            <a:ext cx="1417320" cy="566928"/>
          </a:xfrm>
          <a:prstGeom prst="rect">
            <a:avLst/>
          </a:prstGeom>
          <a:noFill/>
          <a:ln/>
        </p:spPr>
        <p:txBody>
          <a:bodyPr wrap="square" lIns="0" tIns="0" rIns="0" bIns="0" rtlCol="0" anchor="ctr"/>
          <a:lstStyle/>
          <a:p>
            <a:pPr algn="ctr" indent="0" marL="0">
              <a:buNone/>
            </a:pPr>
            <a:r>
              <a:rPr lang="en-US" sz="1800" b="1" dirty="0">
                <a:solidFill>
                  <a:srgbClr val="FFFFFF"/>
                </a:solidFill>
              </a:rPr>
              <a:t>×1.01</a:t>
            </a:r>
            <a:endParaRPr lang="en-US" sz="1800" dirty="0"/>
          </a:p>
          <a:p>
            <a:pPr algn="ctr" indent="0" marL="0">
              <a:buNone/>
            </a:pPr>
            <a:r>
              <a:rPr lang="en-US" sz="1000" dirty="0">
                <a:solidFill>
                  <a:srgbClr val="FFFFFF"/>
                </a:solidFill>
              </a:rPr>
              <a:t>Migration</a:t>
            </a:r>
            <a:endParaRPr lang="en-US" sz="1800" dirty="0"/>
          </a:p>
        </p:txBody>
      </p:sp>
      <p:sp>
        <p:nvSpPr>
          <p:cNvPr id="18" name="Text 16"/>
          <p:cNvSpPr txBox="1"/>
          <p:nvPr/>
        </p:nvSpPr>
        <p:spPr>
          <a:xfrm>
            <a:off x="9235440" y="3520440"/>
            <a:ext cx="320040" cy="566928"/>
          </a:xfrm>
          <a:prstGeom prst="rect">
            <a:avLst/>
          </a:prstGeom>
          <a:noFill/>
          <a:ln/>
        </p:spPr>
        <p:txBody>
          <a:bodyPr wrap="square" lIns="0" tIns="0" rIns="0" bIns="0" rtlCol="0" anchor="ctr"/>
          <a:lstStyle/>
          <a:p>
            <a:pPr algn="ctr" indent="0" marL="0">
              <a:buNone/>
            </a:pPr>
            <a:r>
              <a:rPr lang="en-US" sz="2200" dirty="0">
                <a:solidFill>
                  <a:srgbClr val="FFFFFF"/>
                </a:solidFill>
              </a:rPr>
              <a:t>=</a:t>
            </a:r>
            <a:endParaRPr lang="en-US" sz="2200" dirty="0"/>
          </a:p>
        </p:txBody>
      </p:sp>
      <p:sp>
        <p:nvSpPr>
          <p:cNvPr id="19" name="Text 17"/>
          <p:cNvSpPr txBox="1"/>
          <p:nvPr/>
        </p:nvSpPr>
        <p:spPr>
          <a:xfrm>
            <a:off x="9601200" y="3520440"/>
            <a:ext cx="1234440" cy="566928"/>
          </a:xfrm>
          <a:prstGeom prst="rect">
            <a:avLst/>
          </a:prstGeom>
          <a:noFill/>
          <a:ln/>
        </p:spPr>
        <p:txBody>
          <a:bodyPr wrap="square" lIns="0" tIns="0" rIns="0" bIns="0" rtlCol="0" anchor="ctr"/>
          <a:lstStyle/>
          <a:p>
            <a:pPr algn="ctr" indent="0" marL="0">
              <a:buNone/>
            </a:pPr>
            <a:r>
              <a:rPr lang="en-US" sz="1800" b="1" dirty="0">
                <a:solidFill>
                  <a:srgbClr val="FFFFFF"/>
                </a:solidFill>
              </a:rPr>
              <a:t>10.17 bn</a:t>
            </a:r>
            <a:endParaRPr lang="en-US" sz="1800" dirty="0"/>
          </a:p>
          <a:p>
            <a:pPr algn="ctr" indent="0" marL="0">
              <a:buNone/>
            </a:pPr>
            <a:r>
              <a:rPr lang="en-US" sz="1000" b="1" dirty="0">
                <a:solidFill>
                  <a:srgbClr val="FFFFFF"/>
                </a:solidFill>
              </a:rPr>
              <a:t>2100</a:t>
            </a:r>
            <a:endParaRPr lang="en-US" sz="1800" dirty="0"/>
          </a:p>
        </p:txBody>
      </p:sp>
      <p:sp>
        <p:nvSpPr>
          <p:cNvPr id="20" name="Text 18"/>
          <p:cNvSpPr txBox="1"/>
          <p:nvPr/>
        </p:nvSpPr>
        <p:spPr>
          <a:xfrm>
            <a:off x="640080" y="4206240"/>
            <a:ext cx="10058400" cy="320040"/>
          </a:xfrm>
          <a:prstGeom prst="rect">
            <a:avLst/>
          </a:prstGeom>
          <a:noFill/>
          <a:ln/>
        </p:spPr>
        <p:txBody>
          <a:bodyPr wrap="square" lIns="0" tIns="0" rIns="0" bIns="0" rtlCol="0" anchor="ctr"/>
          <a:lstStyle/>
          <a:p>
            <a:pPr indent="0" marL="0">
              <a:buNone/>
            </a:pPr>
            <a:r>
              <a:rPr lang="en-US" sz="1200" dirty="0">
                <a:solidFill>
                  <a:srgbClr val="9EC5F4"/>
                </a:solidFill>
              </a:rPr>
              <a:t>World population, UN medium projection, decomposed with the UN's own counterfactual projection variants</a:t>
            </a:r>
            <a:endParaRPr lang="en-US" sz="1200" dirty="0"/>
          </a:p>
        </p:txBody>
      </p:sp>
      <p:sp>
        <p:nvSpPr>
          <p:cNvPr id="21" name="Text 19"/>
          <p:cNvSpPr txBox="1"/>
          <p:nvPr/>
        </p:nvSpPr>
        <p:spPr>
          <a:xfrm>
            <a:off x="640080" y="5669280"/>
            <a:ext cx="10515600" cy="365760"/>
          </a:xfrm>
          <a:prstGeom prst="rect">
            <a:avLst/>
          </a:prstGeom>
          <a:noFill/>
          <a:ln/>
        </p:spPr>
        <p:txBody>
          <a:bodyPr wrap="square" lIns="0" tIns="0" rIns="0" bIns="0" rtlCol="0" anchor="ctr"/>
          <a:lstStyle/>
          <a:p>
            <a:pPr indent="0" marL="0">
              <a:buNone/>
            </a:pPr>
            <a:r>
              <a:rPr lang="en-US" sz="1400" b="1" dirty="0">
                <a:solidFill>
                  <a:srgbClr val="FFFFFF"/>
                </a:solidFill>
              </a:rPr>
              <a:t>Team: </a:t>
            </a:r>
            <a:pPr indent="0" marL="0">
              <a:buNone/>
            </a:pPr>
            <a:r>
              <a:rPr lang="en-US" sz="1400" dirty="0">
                <a:solidFill>
                  <a:srgbClr val="FFFFFF"/>
                </a:solidFill>
              </a:rPr>
              <a:t>[Team member names] · [University] · [Undergraduate / Master's]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lIns="0" tIns="0" rIns="0" bIns="0" rtlCol="0"/>
          <a:lstStyle/>
          <a:p>
            <a:pPr indent="0" marL="0">
              <a:buNone/>
            </a:pPr>
            <a:r>
              <a:rPr lang="en-US" sz="1100" b="1" spc="200" kern="0" dirty="0">
                <a:solidFill>
                  <a:schemeClr val="accent1"/>
                </a:solidFill>
              </a:rPr>
              <a:t>THE PUZZLE</a:t>
            </a: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lIns="0" tIns="0" rIns="0" bIns="0" rtlCol="0" anchor="t"/>
          <a:lstStyle/>
          <a:p>
            <a:pPr algn="l" indent="0" marL="0">
              <a:buNone/>
            </a:pPr>
            <a:r>
              <a:rPr lang="en-US" sz="3000" b="1" dirty="0">
                <a:solidFill>
                  <a:schemeClr val="tx2"/>
                </a:solidFill>
              </a:rPr>
              <a:t>A fertility rate alone does not tell a country's future</a:t>
            </a:r>
            <a:endParaRPr lang="en-US" sz="3000" dirty="0"/>
          </a:p>
        </p:txBody>
      </p:sp>
      <p:pic>
        <p:nvPicPr>
          <p:cNvPr id="4" name="Image 0" descr="Scatter of 237 countries: total fertility rate in 2024 against projected population change 2024-2100, bubbles sized by population and coloured by the largest driver of change.">    </p:cNvPr>
          <p:cNvPicPr>
            <a:picLocks noChangeAspect="1"/>
          </p:cNvPicPr>
          <p:nvPr/>
        </p:nvPicPr>
        <p:blipFill>
          <a:blip r:embed="rId1"/>
          <a:stretch>
            <a:fillRect/>
          </a:stretch>
        </p:blipFill>
        <p:spPr>
          <a:xfrm>
            <a:off x="457200" y="1234440"/>
            <a:ext cx="6629400" cy="4849351"/>
          </a:xfrm>
          <a:prstGeom prst="rect">
            <a:avLst/>
          </a:prstGeom>
        </p:spPr>
      </p:pic>
      <p:sp>
        <p:nvSpPr>
          <p:cNvPr id="5" name="Shape 2"/>
          <p:cNvSpPr/>
          <p:nvPr/>
        </p:nvSpPr>
        <p:spPr>
          <a:xfrm>
            <a:off x="7360920" y="1234440"/>
            <a:ext cx="4370832" cy="160020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7498080" y="1298448"/>
            <a:ext cx="4114800" cy="146304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Research question</a:t>
            </a:r>
            <a:endParaRPr lang="en-US" sz="1400" dirty="0"/>
          </a:p>
          <a:p>
            <a:pPr indent="0" marL="0">
              <a:spcAft>
                <a:spcPts val="400"/>
              </a:spcAft>
              <a:buNone/>
            </a:pPr>
            <a:r>
              <a:rPr lang="en-US" sz="1400" dirty="0">
                <a:solidFill>
                  <a:schemeClr val="tx1"/>
                </a:solidFill>
              </a:rPr>
              <a:t>How do momentum, mortality, fertility and migration combine to move each country's population from 2024 to 2100 — and is any single indicator enough to tell the story?</a:t>
            </a:r>
            <a:endParaRPr lang="en-US" sz="1400" dirty="0"/>
          </a:p>
        </p:txBody>
      </p:sp>
      <p:sp>
        <p:nvSpPr>
          <p:cNvPr id="7" name="Text 4"/>
          <p:cNvSpPr txBox="1"/>
          <p:nvPr/>
        </p:nvSpPr>
        <p:spPr>
          <a:xfrm>
            <a:off x="7360920" y="3017520"/>
            <a:ext cx="1143000" cy="640080"/>
          </a:xfrm>
          <a:prstGeom prst="rect">
            <a:avLst/>
          </a:prstGeom>
          <a:noFill/>
          <a:ln/>
        </p:spPr>
        <p:txBody>
          <a:bodyPr wrap="square" lIns="0" tIns="0" rIns="0" bIns="0" rtlCol="0" anchor="ctr"/>
          <a:lstStyle/>
          <a:p>
            <a:pPr indent="0" marL="0">
              <a:buNone/>
            </a:pPr>
            <a:r>
              <a:rPr lang="en-US" sz="3600" b="1" dirty="0">
                <a:solidFill>
                  <a:schemeClr val="tx2"/>
                </a:solidFill>
              </a:rPr>
              <a:t>131</a:t>
            </a:r>
            <a:endParaRPr lang="en-US" sz="3600" dirty="0"/>
          </a:p>
        </p:txBody>
      </p:sp>
      <p:sp>
        <p:nvSpPr>
          <p:cNvPr id="8" name="Text 5"/>
          <p:cNvSpPr txBox="1"/>
          <p:nvPr/>
        </p:nvSpPr>
        <p:spPr>
          <a:xfrm>
            <a:off x="8549640" y="3017520"/>
            <a:ext cx="3182112" cy="640080"/>
          </a:xfrm>
          <a:prstGeom prst="rect">
            <a:avLst/>
          </a:prstGeom>
          <a:noFill/>
          <a:ln/>
        </p:spPr>
        <p:txBody>
          <a:bodyPr wrap="square" lIns="0" tIns="0" rIns="0" bIns="0" rtlCol="0" anchor="ctr"/>
          <a:lstStyle/>
          <a:p>
            <a:pPr indent="0" marL="0">
              <a:buNone/>
            </a:pPr>
            <a:r>
              <a:rPr lang="en-US" sz="1300" dirty="0">
                <a:solidFill>
                  <a:schemeClr val="tx1"/>
                </a:solidFill>
              </a:rPr>
              <a:t>countries and areas had below-replacement fertility (TFR &lt; 2.1) in 2024</a:t>
            </a:r>
            <a:endParaRPr lang="en-US" sz="1300" dirty="0"/>
          </a:p>
        </p:txBody>
      </p:sp>
      <p:sp>
        <p:nvSpPr>
          <p:cNvPr id="9" name="Text 6"/>
          <p:cNvSpPr txBox="1"/>
          <p:nvPr/>
        </p:nvSpPr>
        <p:spPr>
          <a:xfrm>
            <a:off x="7360920" y="3749040"/>
            <a:ext cx="1143000" cy="640080"/>
          </a:xfrm>
          <a:prstGeom prst="rect">
            <a:avLst/>
          </a:prstGeom>
          <a:noFill/>
          <a:ln/>
        </p:spPr>
        <p:txBody>
          <a:bodyPr wrap="square" lIns="0" tIns="0" rIns="0" bIns="0" rtlCol="0" anchor="ctr"/>
          <a:lstStyle/>
          <a:p>
            <a:pPr indent="0" marL="0">
              <a:buNone/>
            </a:pPr>
            <a:r>
              <a:rPr lang="en-US" sz="3600" b="1" dirty="0">
                <a:solidFill>
                  <a:schemeClr val="accent1"/>
                </a:solidFill>
              </a:rPr>
              <a:t>51</a:t>
            </a:r>
            <a:endParaRPr lang="en-US" sz="3600" dirty="0"/>
          </a:p>
        </p:txBody>
      </p:sp>
      <p:sp>
        <p:nvSpPr>
          <p:cNvPr id="10" name="Text 7"/>
          <p:cNvSpPr txBox="1"/>
          <p:nvPr/>
        </p:nvSpPr>
        <p:spPr>
          <a:xfrm>
            <a:off x="8549640" y="3749040"/>
            <a:ext cx="3182112" cy="640080"/>
          </a:xfrm>
          <a:prstGeom prst="rect">
            <a:avLst/>
          </a:prstGeom>
          <a:noFill/>
          <a:ln/>
        </p:spPr>
        <p:txBody>
          <a:bodyPr wrap="square" lIns="0" tIns="0" rIns="0" bIns="0" rtlCol="0" anchor="ctr"/>
          <a:lstStyle/>
          <a:p>
            <a:pPr indent="0" marL="0">
              <a:buNone/>
            </a:pPr>
            <a:r>
              <a:rPr lang="en-US" sz="1300" dirty="0">
                <a:solidFill>
                  <a:schemeClr val="tx1"/>
                </a:solidFill>
              </a:rPr>
              <a:t>of them — 2.6 bn people — still have age structures that push growth</a:t>
            </a:r>
            <a:endParaRPr lang="en-US" sz="1300" dirty="0"/>
          </a:p>
        </p:txBody>
      </p:sp>
      <p:sp>
        <p:nvSpPr>
          <p:cNvPr id="11" name="Text 8"/>
          <p:cNvSpPr txBox="1"/>
          <p:nvPr/>
        </p:nvSpPr>
        <p:spPr>
          <a:xfrm>
            <a:off x="7360920" y="4480560"/>
            <a:ext cx="1143000" cy="640080"/>
          </a:xfrm>
          <a:prstGeom prst="rect">
            <a:avLst/>
          </a:prstGeom>
          <a:noFill/>
          <a:ln/>
        </p:spPr>
        <p:txBody>
          <a:bodyPr wrap="square" lIns="0" tIns="0" rIns="0" bIns="0" rtlCol="0" anchor="ctr"/>
          <a:lstStyle/>
          <a:p>
            <a:pPr indent="0" marL="0">
              <a:buNone/>
            </a:pPr>
            <a:r>
              <a:rPr lang="en-US" sz="3600" b="1" dirty="0">
                <a:solidFill>
                  <a:schemeClr val="accent3"/>
                </a:solidFill>
              </a:rPr>
              <a:t>26</a:t>
            </a:r>
            <a:endParaRPr lang="en-US" sz="3600" dirty="0"/>
          </a:p>
        </p:txBody>
      </p:sp>
      <p:sp>
        <p:nvSpPr>
          <p:cNvPr id="12" name="Text 9"/>
          <p:cNvSpPr txBox="1"/>
          <p:nvPr/>
        </p:nvSpPr>
        <p:spPr>
          <a:xfrm>
            <a:off x="8549640" y="4480560"/>
            <a:ext cx="3182112" cy="640080"/>
          </a:xfrm>
          <a:prstGeom prst="rect">
            <a:avLst/>
          </a:prstGeom>
          <a:noFill/>
          <a:ln/>
        </p:spPr>
        <p:txBody>
          <a:bodyPr wrap="square" lIns="0" tIns="0" rIns="0" bIns="0" rtlCol="0" anchor="ctr"/>
          <a:lstStyle/>
          <a:p>
            <a:pPr indent="0" marL="0">
              <a:buNone/>
            </a:pPr>
            <a:r>
              <a:rPr lang="en-US" sz="1300" dirty="0">
                <a:solidFill>
                  <a:schemeClr val="tx1"/>
                </a:solidFill>
              </a:rPr>
              <a:t>still grow by 2100: India, USA, UK, France, Canada…</a:t>
            </a:r>
            <a:endParaRPr lang="en-US" sz="1300" dirty="0"/>
          </a:p>
        </p:txBody>
      </p:sp>
      <p:sp>
        <p:nvSpPr>
          <p:cNvPr id="13" name="Text 10"/>
          <p:cNvSpPr txBox="1"/>
          <p:nvPr/>
        </p:nvSpPr>
        <p:spPr>
          <a:xfrm>
            <a:off x="7360920" y="5257800"/>
            <a:ext cx="4370832" cy="914400"/>
          </a:xfrm>
          <a:prstGeom prst="rect">
            <a:avLst/>
          </a:prstGeom>
          <a:noFill/>
          <a:ln/>
        </p:spPr>
        <p:txBody>
          <a:bodyPr wrap="square" lIns="0" tIns="0" rIns="0" bIns="0" rtlCol="0" anchor="t"/>
          <a:lstStyle/>
          <a:p>
            <a:pPr indent="0" marL="0">
              <a:buNone/>
            </a:pPr>
            <a:r>
              <a:rPr lang="en-US" sz="1000" dirty="0">
                <a:solidFill>
                  <a:schemeClr val="accent5"/>
                </a:solidFill>
              </a:rPr>
              <a:t>Data: 237 countries and areas, 1950–2100, plus 17 alternative UN projection variants. 318 aggregate rows removed (summing every row counts the world 44.8 times); country totals match the UN World row to within 3.6 × 10⁻⁷.</a:t>
            </a:r>
            <a:endParaRPr lang="en-US" sz="10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lIns="0" tIns="0" rIns="0" bIns="0" rtlCol="0"/>
          <a:lstStyle/>
          <a:p>
            <a:pPr indent="0" marL="0">
              <a:buNone/>
            </a:pPr>
            <a:r>
              <a:rPr lang="en-US" sz="1100" b="1" spc="200" kern="0" dirty="0">
                <a:solidFill>
                  <a:schemeClr val="accent1"/>
                </a:solidFill>
              </a:rPr>
              <a:t>METHOD</a:t>
            </a: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lIns="0" tIns="0" rIns="0" bIns="0" rtlCol="0" anchor="t"/>
          <a:lstStyle/>
          <a:p>
            <a:pPr algn="l" indent="0" marL="0">
              <a:buNone/>
            </a:pPr>
            <a:r>
              <a:rPr lang="en-US" sz="3000" b="1" dirty="0">
                <a:solidFill>
                  <a:schemeClr val="tx2"/>
                </a:solidFill>
              </a:rPr>
              <a:t>Four UN scenario runs split growth into four exact factors</a:t>
            </a:r>
            <a:endParaRPr lang="en-US" sz="3000" dirty="0"/>
          </a:p>
        </p:txBody>
      </p:sp>
      <p:sp>
        <p:nvSpPr>
          <p:cNvPr id="4" name="Shape 2"/>
          <p:cNvSpPr/>
          <p:nvPr/>
        </p:nvSpPr>
        <p:spPr>
          <a:xfrm>
            <a:off x="457200" y="1280160"/>
            <a:ext cx="3931920" cy="512064"/>
          </a:xfrm>
          <a:prstGeom prst="roundRect">
            <a:avLst>
              <a:gd name="adj" fmla="val 17857"/>
            </a:avLst>
          </a:prstGeom>
          <a:solidFill>
            <a:schemeClr val="bg2"/>
          </a:solidFill>
          <a:ln w="12700">
            <a:solidFill>
              <a:schemeClr val="bg2"/>
            </a:solidFill>
            <a:prstDash val="solid"/>
          </a:ln>
        </p:spPr>
      </p:sp>
      <p:sp>
        <p:nvSpPr>
          <p:cNvPr id="5" name="Text 3"/>
          <p:cNvSpPr txBox="1"/>
          <p:nvPr/>
        </p:nvSpPr>
        <p:spPr>
          <a:xfrm>
            <a:off x="594360" y="1280160"/>
            <a:ext cx="2743200" cy="512064"/>
          </a:xfrm>
          <a:prstGeom prst="rect">
            <a:avLst/>
          </a:prstGeom>
          <a:noFill/>
          <a:ln/>
        </p:spPr>
        <p:txBody>
          <a:bodyPr wrap="square" lIns="0" tIns="0" rIns="0" bIns="0" rtlCol="0" anchor="ctr"/>
          <a:lstStyle/>
          <a:p>
            <a:pPr indent="0" marL="0">
              <a:buNone/>
            </a:pPr>
            <a:r>
              <a:rPr lang="en-US" sz="1100" dirty="0">
                <a:solidFill>
                  <a:schemeClr val="tx1"/>
                </a:solidFill>
              </a:rPr>
              <a:t>Start: population on 1 Jan 2024</a:t>
            </a:r>
            <a:endParaRPr lang="en-US" sz="1100" dirty="0"/>
          </a:p>
        </p:txBody>
      </p:sp>
      <p:sp>
        <p:nvSpPr>
          <p:cNvPr id="6" name="Text 4"/>
          <p:cNvSpPr txBox="1"/>
          <p:nvPr/>
        </p:nvSpPr>
        <p:spPr>
          <a:xfrm>
            <a:off x="3337560" y="1280160"/>
            <a:ext cx="960120" cy="512064"/>
          </a:xfrm>
          <a:prstGeom prst="rect">
            <a:avLst/>
          </a:prstGeom>
          <a:noFill/>
          <a:ln/>
        </p:spPr>
        <p:txBody>
          <a:bodyPr wrap="square" lIns="0" tIns="0" rIns="0" bIns="0" rtlCol="0" anchor="ctr"/>
          <a:lstStyle/>
          <a:p>
            <a:pPr algn="r" indent="0" marL="0">
              <a:buNone/>
            </a:pPr>
            <a:r>
              <a:rPr lang="en-US" sz="1400" b="1" dirty="0">
                <a:solidFill>
                  <a:schemeClr val="tx2"/>
                </a:solidFill>
              </a:rPr>
              <a:t>8.13 bn</a:t>
            </a:r>
            <a:endParaRPr lang="en-US" sz="1400" dirty="0"/>
          </a:p>
        </p:txBody>
      </p:sp>
      <p:sp>
        <p:nvSpPr>
          <p:cNvPr id="7" name="Shape 5"/>
          <p:cNvSpPr/>
          <p:nvPr/>
        </p:nvSpPr>
        <p:spPr>
          <a:xfrm>
            <a:off x="2423160" y="1792224"/>
            <a:ext cx="0" cy="329184"/>
          </a:xfrm>
          <a:prstGeom prst="line">
            <a:avLst/>
          </a:prstGeom>
          <a:noFill/>
          <a:ln w="15875">
            <a:solidFill>
              <a:schemeClr val="accent4"/>
            </a:solidFill>
            <a:prstDash val="solid"/>
            <a:tailEnd type="triangle"/>
          </a:ln>
        </p:spPr>
      </p:sp>
      <p:sp>
        <p:nvSpPr>
          <p:cNvPr id="8" name="Text 6"/>
          <p:cNvSpPr txBox="1"/>
          <p:nvPr/>
        </p:nvSpPr>
        <p:spPr>
          <a:xfrm>
            <a:off x="2560320" y="1792224"/>
            <a:ext cx="1828800" cy="329184"/>
          </a:xfrm>
          <a:prstGeom prst="rect">
            <a:avLst/>
          </a:prstGeom>
          <a:noFill/>
          <a:ln/>
        </p:spPr>
        <p:txBody>
          <a:bodyPr wrap="square" lIns="0" tIns="0" rIns="0" bIns="0" rtlCol="0" anchor="ctr"/>
          <a:lstStyle/>
          <a:p>
            <a:pPr indent="0" marL="0">
              <a:buNone/>
            </a:pPr>
            <a:r>
              <a:rPr lang="en-US" sz="1100" b="1" dirty="0">
                <a:solidFill>
                  <a:srgbClr val="2A78D6"/>
                </a:solidFill>
              </a:rPr>
              <a:t>Momentum  ×1.18</a:t>
            </a:r>
            <a:endParaRPr lang="en-US" sz="1100" dirty="0"/>
          </a:p>
        </p:txBody>
      </p:sp>
      <p:sp>
        <p:nvSpPr>
          <p:cNvPr id="9" name="Shape 7"/>
          <p:cNvSpPr/>
          <p:nvPr/>
        </p:nvSpPr>
        <p:spPr>
          <a:xfrm>
            <a:off x="457200" y="2121408"/>
            <a:ext cx="3931920" cy="512064"/>
          </a:xfrm>
          <a:prstGeom prst="roundRect">
            <a:avLst>
              <a:gd name="adj" fmla="val 17857"/>
            </a:avLst>
          </a:prstGeom>
          <a:solidFill>
            <a:schemeClr val="bg2"/>
          </a:solidFill>
          <a:ln w="12700">
            <a:solidFill>
              <a:schemeClr val="bg2"/>
            </a:solidFill>
            <a:prstDash val="solid"/>
          </a:ln>
        </p:spPr>
      </p:sp>
      <p:sp>
        <p:nvSpPr>
          <p:cNvPr id="10" name="Text 8"/>
          <p:cNvSpPr txBox="1"/>
          <p:nvPr/>
        </p:nvSpPr>
        <p:spPr>
          <a:xfrm>
            <a:off x="594360" y="2121408"/>
            <a:ext cx="2743200" cy="512064"/>
          </a:xfrm>
          <a:prstGeom prst="rect">
            <a:avLst/>
          </a:prstGeom>
          <a:noFill/>
          <a:ln/>
        </p:spPr>
        <p:txBody>
          <a:bodyPr wrap="square" lIns="0" tIns="0" rIns="0" bIns="0" rtlCol="0" anchor="ctr"/>
          <a:lstStyle/>
          <a:p>
            <a:pPr indent="0" marL="0">
              <a:buNone/>
            </a:pPr>
            <a:r>
              <a:rPr lang="en-US" sz="1100" dirty="0">
                <a:solidFill>
                  <a:schemeClr val="tx1"/>
                </a:solidFill>
              </a:rPr>
              <a:t>Momentum run: replacement fertility, constant mortality, no migration</a:t>
            </a:r>
            <a:endParaRPr lang="en-US" sz="1100" dirty="0"/>
          </a:p>
        </p:txBody>
      </p:sp>
      <p:sp>
        <p:nvSpPr>
          <p:cNvPr id="11" name="Text 9"/>
          <p:cNvSpPr txBox="1"/>
          <p:nvPr/>
        </p:nvSpPr>
        <p:spPr>
          <a:xfrm>
            <a:off x="3337560" y="2121408"/>
            <a:ext cx="960120" cy="512064"/>
          </a:xfrm>
          <a:prstGeom prst="rect">
            <a:avLst/>
          </a:prstGeom>
          <a:noFill/>
          <a:ln/>
        </p:spPr>
        <p:txBody>
          <a:bodyPr wrap="square" lIns="0" tIns="0" rIns="0" bIns="0" rtlCol="0" anchor="ctr"/>
          <a:lstStyle/>
          <a:p>
            <a:pPr algn="r" indent="0" marL="0">
              <a:buNone/>
            </a:pPr>
            <a:r>
              <a:rPr lang="en-US" sz="1400" b="1" dirty="0">
                <a:solidFill>
                  <a:schemeClr val="tx2"/>
                </a:solidFill>
              </a:rPr>
              <a:t>9.60 bn</a:t>
            </a:r>
            <a:endParaRPr lang="en-US" sz="1400" dirty="0"/>
          </a:p>
        </p:txBody>
      </p:sp>
      <p:sp>
        <p:nvSpPr>
          <p:cNvPr id="12" name="Shape 10"/>
          <p:cNvSpPr/>
          <p:nvPr/>
        </p:nvSpPr>
        <p:spPr>
          <a:xfrm>
            <a:off x="2423160" y="2633472"/>
            <a:ext cx="0" cy="329184"/>
          </a:xfrm>
          <a:prstGeom prst="line">
            <a:avLst/>
          </a:prstGeom>
          <a:noFill/>
          <a:ln w="15875">
            <a:solidFill>
              <a:schemeClr val="accent4"/>
            </a:solidFill>
            <a:prstDash val="solid"/>
            <a:tailEnd type="triangle"/>
          </a:ln>
        </p:spPr>
      </p:sp>
      <p:sp>
        <p:nvSpPr>
          <p:cNvPr id="13" name="Text 11"/>
          <p:cNvSpPr txBox="1"/>
          <p:nvPr/>
        </p:nvSpPr>
        <p:spPr>
          <a:xfrm>
            <a:off x="2560320" y="2633472"/>
            <a:ext cx="1828800" cy="329184"/>
          </a:xfrm>
          <a:prstGeom prst="rect">
            <a:avLst/>
          </a:prstGeom>
          <a:noFill/>
          <a:ln/>
        </p:spPr>
        <p:txBody>
          <a:bodyPr wrap="square" lIns="0" tIns="0" rIns="0" bIns="0" rtlCol="0" anchor="ctr"/>
          <a:lstStyle/>
          <a:p>
            <a:pPr indent="0" marL="0">
              <a:buNone/>
            </a:pPr>
            <a:r>
              <a:rPr lang="en-US" sz="1100" b="1" dirty="0">
                <a:solidFill>
                  <a:schemeClr val="accent5"/>
                </a:solidFill>
              </a:rPr>
              <a:t>Mortality  ×1.11</a:t>
            </a:r>
            <a:endParaRPr lang="en-US" sz="1100" dirty="0"/>
          </a:p>
        </p:txBody>
      </p:sp>
      <p:sp>
        <p:nvSpPr>
          <p:cNvPr id="14" name="Shape 12"/>
          <p:cNvSpPr/>
          <p:nvPr/>
        </p:nvSpPr>
        <p:spPr>
          <a:xfrm>
            <a:off x="457200" y="2962656"/>
            <a:ext cx="3931920" cy="512064"/>
          </a:xfrm>
          <a:prstGeom prst="roundRect">
            <a:avLst>
              <a:gd name="adj" fmla="val 17857"/>
            </a:avLst>
          </a:prstGeom>
          <a:solidFill>
            <a:schemeClr val="bg2"/>
          </a:solidFill>
          <a:ln w="12700">
            <a:solidFill>
              <a:schemeClr val="bg2"/>
            </a:solidFill>
            <a:prstDash val="solid"/>
          </a:ln>
        </p:spPr>
      </p:sp>
      <p:sp>
        <p:nvSpPr>
          <p:cNvPr id="15" name="Text 13"/>
          <p:cNvSpPr txBox="1"/>
          <p:nvPr/>
        </p:nvSpPr>
        <p:spPr>
          <a:xfrm>
            <a:off x="594360" y="2962656"/>
            <a:ext cx="2743200" cy="512064"/>
          </a:xfrm>
          <a:prstGeom prst="rect">
            <a:avLst/>
          </a:prstGeom>
          <a:noFill/>
          <a:ln/>
        </p:spPr>
        <p:txBody>
          <a:bodyPr wrap="square" lIns="0" tIns="0" rIns="0" bIns="0" rtlCol="0" anchor="ctr"/>
          <a:lstStyle/>
          <a:p>
            <a:pPr indent="0" marL="0">
              <a:buNone/>
            </a:pPr>
            <a:r>
              <a:rPr lang="en-US" sz="1100" dirty="0">
                <a:solidFill>
                  <a:schemeClr val="tx1"/>
                </a:solidFill>
              </a:rPr>
              <a:t>+ projected mortality decline (instant-replacement, zero-migration run)</a:t>
            </a:r>
            <a:endParaRPr lang="en-US" sz="1100" dirty="0"/>
          </a:p>
        </p:txBody>
      </p:sp>
      <p:sp>
        <p:nvSpPr>
          <p:cNvPr id="16" name="Text 14"/>
          <p:cNvSpPr txBox="1"/>
          <p:nvPr/>
        </p:nvSpPr>
        <p:spPr>
          <a:xfrm>
            <a:off x="3337560" y="2962656"/>
            <a:ext cx="960120" cy="512064"/>
          </a:xfrm>
          <a:prstGeom prst="rect">
            <a:avLst/>
          </a:prstGeom>
          <a:noFill/>
          <a:ln/>
        </p:spPr>
        <p:txBody>
          <a:bodyPr wrap="square" lIns="0" tIns="0" rIns="0" bIns="0" rtlCol="0" anchor="ctr"/>
          <a:lstStyle/>
          <a:p>
            <a:pPr algn="r" indent="0" marL="0">
              <a:buNone/>
            </a:pPr>
            <a:r>
              <a:rPr lang="en-US" sz="1400" b="1" dirty="0">
                <a:solidFill>
                  <a:schemeClr val="tx2"/>
                </a:solidFill>
              </a:rPr>
              <a:t>10.68 bn</a:t>
            </a:r>
            <a:endParaRPr lang="en-US" sz="1400" dirty="0"/>
          </a:p>
        </p:txBody>
      </p:sp>
      <p:sp>
        <p:nvSpPr>
          <p:cNvPr id="17" name="Shape 15"/>
          <p:cNvSpPr/>
          <p:nvPr/>
        </p:nvSpPr>
        <p:spPr>
          <a:xfrm>
            <a:off x="2423160" y="3474720"/>
            <a:ext cx="0" cy="329184"/>
          </a:xfrm>
          <a:prstGeom prst="line">
            <a:avLst/>
          </a:prstGeom>
          <a:noFill/>
          <a:ln w="15875">
            <a:solidFill>
              <a:schemeClr val="accent4"/>
            </a:solidFill>
            <a:prstDash val="solid"/>
            <a:tailEnd type="triangle"/>
          </a:ln>
        </p:spPr>
      </p:sp>
      <p:sp>
        <p:nvSpPr>
          <p:cNvPr id="18" name="Text 16"/>
          <p:cNvSpPr txBox="1"/>
          <p:nvPr/>
        </p:nvSpPr>
        <p:spPr>
          <a:xfrm>
            <a:off x="2560320" y="3474720"/>
            <a:ext cx="1828800" cy="329184"/>
          </a:xfrm>
          <a:prstGeom prst="rect">
            <a:avLst/>
          </a:prstGeom>
          <a:noFill/>
          <a:ln/>
        </p:spPr>
        <p:txBody>
          <a:bodyPr wrap="square" lIns="0" tIns="0" rIns="0" bIns="0" rtlCol="0" anchor="ctr"/>
          <a:lstStyle/>
          <a:p>
            <a:pPr indent="0" marL="0">
              <a:buNone/>
            </a:pPr>
            <a:r>
              <a:rPr lang="en-US" sz="1100" b="1" dirty="0">
                <a:solidFill>
                  <a:srgbClr val="EB6834"/>
                </a:solidFill>
              </a:rPr>
              <a:t>Fertility  ×0.95</a:t>
            </a:r>
            <a:endParaRPr lang="en-US" sz="1100" dirty="0"/>
          </a:p>
        </p:txBody>
      </p:sp>
      <p:sp>
        <p:nvSpPr>
          <p:cNvPr id="19" name="Shape 17"/>
          <p:cNvSpPr/>
          <p:nvPr/>
        </p:nvSpPr>
        <p:spPr>
          <a:xfrm>
            <a:off x="457200" y="3803904"/>
            <a:ext cx="3931920" cy="512064"/>
          </a:xfrm>
          <a:prstGeom prst="roundRect">
            <a:avLst>
              <a:gd name="adj" fmla="val 17857"/>
            </a:avLst>
          </a:prstGeom>
          <a:solidFill>
            <a:schemeClr val="bg2"/>
          </a:solidFill>
          <a:ln w="12700">
            <a:solidFill>
              <a:schemeClr val="bg2"/>
            </a:solidFill>
            <a:prstDash val="solid"/>
          </a:ln>
        </p:spPr>
      </p:sp>
      <p:sp>
        <p:nvSpPr>
          <p:cNvPr id="20" name="Text 18"/>
          <p:cNvSpPr txBox="1"/>
          <p:nvPr/>
        </p:nvSpPr>
        <p:spPr>
          <a:xfrm>
            <a:off x="594360" y="3803904"/>
            <a:ext cx="2743200" cy="512064"/>
          </a:xfrm>
          <a:prstGeom prst="rect">
            <a:avLst/>
          </a:prstGeom>
          <a:noFill/>
          <a:ln/>
        </p:spPr>
        <p:txBody>
          <a:bodyPr wrap="square" lIns="0" tIns="0" rIns="0" bIns="0" rtlCol="0" anchor="ctr"/>
          <a:lstStyle/>
          <a:p>
            <a:pPr indent="0" marL="0">
              <a:buNone/>
            </a:pPr>
            <a:r>
              <a:rPr lang="en-US" sz="1100" dirty="0">
                <a:solidFill>
                  <a:schemeClr val="tx1"/>
                </a:solidFill>
              </a:rPr>
              <a:t>+ projected fertility (zero-migration run)</a:t>
            </a:r>
            <a:endParaRPr lang="en-US" sz="1100" dirty="0"/>
          </a:p>
        </p:txBody>
      </p:sp>
      <p:sp>
        <p:nvSpPr>
          <p:cNvPr id="21" name="Text 19"/>
          <p:cNvSpPr txBox="1"/>
          <p:nvPr/>
        </p:nvSpPr>
        <p:spPr>
          <a:xfrm>
            <a:off x="3337560" y="3803904"/>
            <a:ext cx="960120" cy="512064"/>
          </a:xfrm>
          <a:prstGeom prst="rect">
            <a:avLst/>
          </a:prstGeom>
          <a:noFill/>
          <a:ln/>
        </p:spPr>
        <p:txBody>
          <a:bodyPr wrap="square" lIns="0" tIns="0" rIns="0" bIns="0" rtlCol="0" anchor="ctr"/>
          <a:lstStyle/>
          <a:p>
            <a:pPr algn="r" indent="0" marL="0">
              <a:buNone/>
            </a:pPr>
            <a:r>
              <a:rPr lang="en-US" sz="1400" b="1" dirty="0">
                <a:solidFill>
                  <a:schemeClr val="tx2"/>
                </a:solidFill>
              </a:rPr>
              <a:t>10.10 bn</a:t>
            </a:r>
            <a:endParaRPr lang="en-US" sz="1400" dirty="0"/>
          </a:p>
        </p:txBody>
      </p:sp>
      <p:sp>
        <p:nvSpPr>
          <p:cNvPr id="22" name="Shape 20"/>
          <p:cNvSpPr/>
          <p:nvPr/>
        </p:nvSpPr>
        <p:spPr>
          <a:xfrm>
            <a:off x="2423160" y="4315968"/>
            <a:ext cx="0" cy="329184"/>
          </a:xfrm>
          <a:prstGeom prst="line">
            <a:avLst/>
          </a:prstGeom>
          <a:noFill/>
          <a:ln w="15875">
            <a:solidFill>
              <a:schemeClr val="accent4"/>
            </a:solidFill>
            <a:prstDash val="solid"/>
            <a:tailEnd type="triangle"/>
          </a:ln>
        </p:spPr>
      </p:sp>
      <p:sp>
        <p:nvSpPr>
          <p:cNvPr id="23" name="Text 21"/>
          <p:cNvSpPr txBox="1"/>
          <p:nvPr/>
        </p:nvSpPr>
        <p:spPr>
          <a:xfrm>
            <a:off x="2560320" y="4315968"/>
            <a:ext cx="1828800" cy="329184"/>
          </a:xfrm>
          <a:prstGeom prst="rect">
            <a:avLst/>
          </a:prstGeom>
          <a:noFill/>
          <a:ln/>
        </p:spPr>
        <p:txBody>
          <a:bodyPr wrap="square" lIns="0" tIns="0" rIns="0" bIns="0" rtlCol="0" anchor="ctr"/>
          <a:lstStyle/>
          <a:p>
            <a:pPr indent="0" marL="0">
              <a:buNone/>
            </a:pPr>
            <a:r>
              <a:rPr lang="en-US" sz="1100" b="1" dirty="0">
                <a:solidFill>
                  <a:srgbClr val="1BAF7A"/>
                </a:solidFill>
              </a:rPr>
              <a:t>Migration  ×1.01</a:t>
            </a:r>
            <a:endParaRPr lang="en-US" sz="1100" dirty="0"/>
          </a:p>
        </p:txBody>
      </p:sp>
      <p:sp>
        <p:nvSpPr>
          <p:cNvPr id="24" name="Shape 22"/>
          <p:cNvSpPr/>
          <p:nvPr/>
        </p:nvSpPr>
        <p:spPr>
          <a:xfrm>
            <a:off x="457200" y="4645152"/>
            <a:ext cx="3931920" cy="512064"/>
          </a:xfrm>
          <a:prstGeom prst="roundRect">
            <a:avLst>
              <a:gd name="adj" fmla="val 17857"/>
            </a:avLst>
          </a:prstGeom>
          <a:solidFill>
            <a:schemeClr val="bg2"/>
          </a:solidFill>
          <a:ln w="12700">
            <a:solidFill>
              <a:schemeClr val="bg2"/>
            </a:solidFill>
            <a:prstDash val="solid"/>
          </a:ln>
        </p:spPr>
      </p:sp>
      <p:sp>
        <p:nvSpPr>
          <p:cNvPr id="25" name="Text 23"/>
          <p:cNvSpPr txBox="1"/>
          <p:nvPr/>
        </p:nvSpPr>
        <p:spPr>
          <a:xfrm>
            <a:off x="594360" y="4645152"/>
            <a:ext cx="2743200" cy="512064"/>
          </a:xfrm>
          <a:prstGeom prst="rect">
            <a:avLst/>
          </a:prstGeom>
          <a:noFill/>
          <a:ln/>
        </p:spPr>
        <p:txBody>
          <a:bodyPr wrap="square" lIns="0" tIns="0" rIns="0" bIns="0" rtlCol="0" anchor="ctr"/>
          <a:lstStyle/>
          <a:p>
            <a:pPr indent="0" marL="0">
              <a:buNone/>
            </a:pPr>
            <a:r>
              <a:rPr lang="en-US" sz="1100" dirty="0">
                <a:solidFill>
                  <a:schemeClr val="tx1"/>
                </a:solidFill>
              </a:rPr>
              <a:t>+ projected migration = UN medium projection</a:t>
            </a:r>
            <a:endParaRPr lang="en-US" sz="1100" dirty="0"/>
          </a:p>
        </p:txBody>
      </p:sp>
      <p:sp>
        <p:nvSpPr>
          <p:cNvPr id="26" name="Text 24"/>
          <p:cNvSpPr txBox="1"/>
          <p:nvPr/>
        </p:nvSpPr>
        <p:spPr>
          <a:xfrm>
            <a:off x="3337560" y="4645152"/>
            <a:ext cx="960120" cy="512064"/>
          </a:xfrm>
          <a:prstGeom prst="rect">
            <a:avLst/>
          </a:prstGeom>
          <a:noFill/>
          <a:ln/>
        </p:spPr>
        <p:txBody>
          <a:bodyPr wrap="square" lIns="0" tIns="0" rIns="0" bIns="0" rtlCol="0" anchor="ctr"/>
          <a:lstStyle/>
          <a:p>
            <a:pPr algn="r" indent="0" marL="0">
              <a:buNone/>
            </a:pPr>
            <a:r>
              <a:rPr lang="en-US" sz="1400" b="1" dirty="0">
                <a:solidFill>
                  <a:schemeClr val="tx2"/>
                </a:solidFill>
              </a:rPr>
              <a:t>10.17 bn</a:t>
            </a:r>
            <a:endParaRPr lang="en-US" sz="1400" dirty="0"/>
          </a:p>
        </p:txBody>
      </p:sp>
      <p:sp>
        <p:nvSpPr>
          <p:cNvPr id="27" name="Text 25"/>
          <p:cNvSpPr txBox="1"/>
          <p:nvPr/>
        </p:nvSpPr>
        <p:spPr>
          <a:xfrm>
            <a:off x="457200" y="5486400"/>
            <a:ext cx="5394960" cy="868680"/>
          </a:xfrm>
          <a:prstGeom prst="rect">
            <a:avLst/>
          </a:prstGeom>
          <a:noFill/>
          <a:ln/>
        </p:spPr>
        <p:txBody>
          <a:bodyPr wrap="square" lIns="0" tIns="0" rIns="0" bIns="0" rtlCol="0" anchor="t"/>
          <a:lstStyle/>
          <a:p>
            <a:pPr indent="0" marL="0">
              <a:buNone/>
            </a:pPr>
            <a:r>
              <a:rPr lang="en-US" sz="1100" b="1" dirty="0">
                <a:solidFill>
                  <a:schemeClr val="tx1"/>
                </a:solidFill>
              </a:rPr>
              <a:t>P₂₁₀₀ / P₂₀₂₄ = momentum × mortality × fertility × migration</a:t>
            </a:r>
            <a:endParaRPr lang="en-US" sz="1100" dirty="0"/>
          </a:p>
          <a:p>
            <a:pPr indent="0" marL="0">
              <a:buNone/>
            </a:pPr>
            <a:r>
              <a:rPr lang="en-US" sz="1100" dirty="0">
                <a:solidFill>
                  <a:schemeClr val="tx1"/>
                </a:solidFill>
              </a:rPr>
              <a:t>Each factor is a ratio of two runs, so the product is exact — no residual. In logs the four effects add up (Andreev, Kantorová &amp; Bongaarts, UN 2013). Same chain for all 237 countries; world = sum of countries.</a:t>
            </a:r>
            <a:endParaRPr lang="en-US" sz="1100" dirty="0"/>
          </a:p>
        </p:txBody>
      </p:sp>
      <p:pic>
        <p:nvPicPr>
          <p:cNvPr id="28" name="Image 0" descr="World population 1950-2100: UN medium projection with 95% interval, and the momentum-only, replacement-fertility and zero-migration counterfactual runs.">    </p:cNvPr>
          <p:cNvPicPr>
            <a:picLocks noChangeAspect="1"/>
          </p:cNvPicPr>
          <p:nvPr/>
        </p:nvPicPr>
        <p:blipFill>
          <a:blip r:embed="rId1"/>
          <a:stretch>
            <a:fillRect/>
          </a:stretch>
        </p:blipFill>
        <p:spPr>
          <a:xfrm>
            <a:off x="5989320" y="1234440"/>
            <a:ext cx="5760720" cy="3291050"/>
          </a:xfrm>
          <a:prstGeom prst="rect">
            <a:avLst/>
          </a:prstGeom>
        </p:spPr>
      </p:pic>
      <p:sp>
        <p:nvSpPr>
          <p:cNvPr id="29" name="Shape 26"/>
          <p:cNvSpPr/>
          <p:nvPr/>
        </p:nvSpPr>
        <p:spPr>
          <a:xfrm>
            <a:off x="5989320" y="4800600"/>
            <a:ext cx="5760720" cy="1234440"/>
          </a:xfrm>
          <a:prstGeom prst="roundRect">
            <a:avLst>
              <a:gd name="adj" fmla="val 7407"/>
            </a:avLst>
          </a:prstGeom>
          <a:solidFill>
            <a:schemeClr val="bg2"/>
          </a:solidFill>
          <a:ln w="12700">
            <a:solidFill>
              <a:schemeClr val="bg2"/>
            </a:solidFill>
            <a:prstDash val="solid"/>
          </a:ln>
        </p:spPr>
      </p:sp>
      <p:sp>
        <p:nvSpPr>
          <p:cNvPr id="30" name="Text 27"/>
          <p:cNvSpPr txBox="1"/>
          <p:nvPr/>
        </p:nvSpPr>
        <p:spPr>
          <a:xfrm>
            <a:off x="6126480" y="4873752"/>
            <a:ext cx="5486400" cy="1088136"/>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rPr>
              <a:t>Fertility already pulls the world down</a:t>
            </a:r>
            <a:endParaRPr lang="en-US" sz="1400" dirty="0"/>
          </a:p>
          <a:p>
            <a:pPr indent="0" marL="0">
              <a:spcAft>
                <a:spcPts val="200"/>
              </a:spcAft>
              <a:buNone/>
            </a:pPr>
            <a:r>
              <a:rPr lang="en-US" sz="1200" dirty="0">
                <a:solidFill>
                  <a:schemeClr val="tx1"/>
                </a:solidFill>
              </a:rPr>
              <a:t>Fertility is a brake on world growth (×0.95). The extra 2.0 bn to 2100 come from today's young age structure (×1.18) and longer lives (×1.11). Even 2.1 children per woman from 2024 would end at 10.7 bn — above the UN path.</a:t>
            </a:r>
            <a:endParaRPr lang="en-US" sz="14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lIns="0" tIns="0" rIns="0" bIns="0" rtlCol="0"/>
          <a:lstStyle/>
          <a:p>
            <a:pPr indent="0" marL="0">
              <a:buNone/>
            </a:pPr>
            <a:r>
              <a:rPr lang="en-US" sz="1100" b="1" spc="200" kern="0" dirty="0">
                <a:solidFill>
                  <a:schemeClr val="accent1"/>
                </a:solidFill>
              </a:rPr>
              <a:t>FINDINGS</a:t>
            </a: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lIns="0" tIns="0" rIns="0" bIns="0" rtlCol="0" anchor="t"/>
          <a:lstStyle/>
          <a:p>
            <a:pPr algn="l" indent="0" marL="0">
              <a:buNone/>
            </a:pPr>
            <a:r>
              <a:rPr lang="en-US" sz="3000" b="1" dirty="0">
                <a:solidFill>
                  <a:schemeClr val="tx2"/>
                </a:solidFill>
              </a:rPr>
              <a:t>Same outcome, different engines</a:t>
            </a:r>
            <a:endParaRPr lang="en-US" sz="3000" dirty="0"/>
          </a:p>
        </p:txBody>
      </p:sp>
      <p:pic>
        <p:nvPicPr>
          <p:cNvPr id="4" name="Image 0" descr="Diverging stacked bars of the four multiplicative effects for the world and five regions, 2024-2100.">    </p:cNvPr>
          <p:cNvPicPr>
            <a:picLocks noChangeAspect="1"/>
          </p:cNvPicPr>
          <p:nvPr/>
        </p:nvPicPr>
        <p:blipFill>
          <a:blip r:embed="rId1"/>
          <a:stretch>
            <a:fillRect/>
          </a:stretch>
        </p:blipFill>
        <p:spPr>
          <a:xfrm>
            <a:off x="457200" y="1234440"/>
            <a:ext cx="4937018" cy="3611880"/>
          </a:xfrm>
          <a:prstGeom prst="rect">
            <a:avLst/>
          </a:prstGeom>
        </p:spPr>
      </p:pic>
      <p:pic>
        <p:nvPicPr>
          <p:cNvPr id="5" name="Image 1" descr="Diverging stacked bars of the four multiplicative effects for thirteen large countries including Türkiye.">    </p:cNvPr>
          <p:cNvPicPr>
            <a:picLocks noChangeAspect="1"/>
          </p:cNvPicPr>
          <p:nvPr/>
        </p:nvPicPr>
        <p:blipFill>
          <a:blip r:embed="rId2"/>
          <a:stretch>
            <a:fillRect/>
          </a:stretch>
        </p:blipFill>
        <p:spPr>
          <a:xfrm>
            <a:off x="5486400" y="1234440"/>
            <a:ext cx="4580322" cy="3611880"/>
          </a:xfrm>
          <a:prstGeom prst="rect">
            <a:avLst/>
          </a:prstGeom>
        </p:spPr>
      </p:pic>
      <p:sp>
        <p:nvSpPr>
          <p:cNvPr id="6" name="Text 2"/>
          <p:cNvSpPr txBox="1"/>
          <p:nvPr/>
        </p:nvSpPr>
        <p:spPr>
          <a:xfrm>
            <a:off x="10195560" y="1371600"/>
            <a:ext cx="1600200" cy="2743200"/>
          </a:xfrm>
          <a:prstGeom prst="rect">
            <a:avLst/>
          </a:prstGeom>
          <a:noFill/>
          <a:ln/>
        </p:spPr>
        <p:txBody>
          <a:bodyPr wrap="square" lIns="0" tIns="0" rIns="0" bIns="0" rtlCol="0" anchor="t"/>
          <a:lstStyle/>
          <a:p>
            <a:pPr indent="0" marL="0">
              <a:spcAft>
                <a:spcPts val="300"/>
              </a:spcAft>
              <a:buNone/>
            </a:pPr>
            <a:r>
              <a:rPr lang="en-US" sz="1200" b="1" dirty="0">
                <a:solidFill>
                  <a:schemeClr val="tx2"/>
                </a:solidFill>
              </a:rPr>
              <a:t>What separates countries?</a:t>
            </a:r>
            <a:endParaRPr lang="en-US" sz="1200" dirty="0"/>
          </a:p>
          <a:p>
            <a:pPr indent="0" marL="0">
              <a:spcAft>
                <a:spcPts val="300"/>
              </a:spcAft>
              <a:buNone/>
            </a:pPr>
            <a:r>
              <a:rPr lang="en-US" sz="1200" dirty="0">
                <a:solidFill>
                  <a:schemeClr val="tx1"/>
                </a:solidFill>
              </a:rPr>
              <a:t>Share of the cross-country variance in growth:</a:t>
            </a:r>
            <a:endParaRPr lang="en-US" sz="1200" dirty="0"/>
          </a:p>
          <a:p>
            <a:pPr indent="0" marL="0">
              <a:spcAft>
                <a:spcPts val="300"/>
              </a:spcAft>
              <a:buNone/>
            </a:pPr>
            <a:r>
              <a:rPr lang="en-US" sz="1200" b="1" dirty="0">
                <a:solidFill>
                  <a:srgbClr val="EB6834"/>
                </a:solidFill>
              </a:rPr>
              <a:t>fertility 59%</a:t>
            </a:r>
            <a:endParaRPr lang="en-US" sz="1200" dirty="0"/>
          </a:p>
          <a:p>
            <a:pPr indent="0" marL="0">
              <a:spcAft>
                <a:spcPts val="300"/>
              </a:spcAft>
              <a:buNone/>
            </a:pPr>
            <a:r>
              <a:rPr lang="en-US" sz="1200" b="1" dirty="0">
                <a:solidFill>
                  <a:srgbClr val="2A78D6"/>
                </a:solidFill>
              </a:rPr>
              <a:t>momentum 32%</a:t>
            </a:r>
            <a:endParaRPr lang="en-US" sz="1200" dirty="0"/>
          </a:p>
          <a:p>
            <a:pPr indent="0" marL="0">
              <a:spcAft>
                <a:spcPts val="300"/>
              </a:spcAft>
              <a:buNone/>
            </a:pPr>
            <a:r>
              <a:rPr lang="en-US" sz="1200" b="1" dirty="0">
                <a:solidFill>
                  <a:srgbClr val="11845B"/>
                </a:solidFill>
              </a:rPr>
              <a:t>migration 9%</a:t>
            </a:r>
            <a:endParaRPr lang="en-US" sz="1200" dirty="0"/>
          </a:p>
          <a:p>
            <a:pPr indent="0" marL="0">
              <a:spcAft>
                <a:spcPts val="300"/>
              </a:spcAft>
              <a:buNone/>
            </a:pPr>
            <a:r>
              <a:rPr lang="en-US" sz="1200" b="1" dirty="0">
                <a:solidFill>
                  <a:schemeClr val="accent5"/>
                </a:solidFill>
              </a:rPr>
              <a:t>mortality ≈ 0</a:t>
            </a:r>
            <a:endParaRPr lang="en-US" sz="1200" dirty="0"/>
          </a:p>
        </p:txBody>
      </p:sp>
      <p:sp>
        <p:nvSpPr>
          <p:cNvPr id="7" name="Shape 3"/>
          <p:cNvSpPr/>
          <p:nvPr/>
        </p:nvSpPr>
        <p:spPr>
          <a:xfrm>
            <a:off x="457200" y="5120640"/>
            <a:ext cx="3611880" cy="1097280"/>
          </a:xfrm>
          <a:prstGeom prst="roundRect">
            <a:avLst>
              <a:gd name="adj" fmla="val 8333"/>
            </a:avLst>
          </a:prstGeom>
          <a:solidFill>
            <a:schemeClr val="bg2"/>
          </a:solidFill>
          <a:ln w="12700">
            <a:solidFill>
              <a:schemeClr val="bg2"/>
            </a:solidFill>
            <a:prstDash val="solid"/>
          </a:ln>
        </p:spPr>
      </p:sp>
      <p:sp>
        <p:nvSpPr>
          <p:cNvPr id="8" name="Text 4"/>
          <p:cNvSpPr txBox="1"/>
          <p:nvPr/>
        </p:nvSpPr>
        <p:spPr>
          <a:xfrm>
            <a:off x="594360" y="5193792"/>
            <a:ext cx="3337560" cy="950976"/>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rPr>
              <a:t>Africa ×2.55</a:t>
            </a:r>
            <a:endParaRPr lang="en-US" sz="1400" dirty="0"/>
          </a:p>
          <a:p>
            <a:pPr indent="0" marL="0">
              <a:spcAft>
                <a:spcPts val="200"/>
              </a:spcAft>
              <a:buNone/>
            </a:pPr>
            <a:r>
              <a:rPr lang="en-US" sz="1200" dirty="0">
                <a:solidFill>
                  <a:schemeClr val="tx1"/>
                </a:solidFill>
              </a:rPr>
              <a:t>A young age structure (×1.53) and above-replacement fertility (×1.56) compound.</a:t>
            </a:r>
            <a:endParaRPr lang="en-US" sz="1400" dirty="0"/>
          </a:p>
        </p:txBody>
      </p:sp>
      <p:sp>
        <p:nvSpPr>
          <p:cNvPr id="9" name="Shape 5"/>
          <p:cNvSpPr/>
          <p:nvPr/>
        </p:nvSpPr>
        <p:spPr>
          <a:xfrm>
            <a:off x="4279392" y="5120640"/>
            <a:ext cx="3611880" cy="1097280"/>
          </a:xfrm>
          <a:prstGeom prst="roundRect">
            <a:avLst>
              <a:gd name="adj" fmla="val 8333"/>
            </a:avLst>
          </a:prstGeom>
          <a:solidFill>
            <a:schemeClr val="bg2"/>
          </a:solidFill>
          <a:ln w="12700">
            <a:solidFill>
              <a:schemeClr val="bg2"/>
            </a:solidFill>
            <a:prstDash val="solid"/>
          </a:ln>
        </p:spPr>
      </p:sp>
      <p:sp>
        <p:nvSpPr>
          <p:cNvPr id="10" name="Text 6"/>
          <p:cNvSpPr txBox="1"/>
          <p:nvPr/>
        </p:nvSpPr>
        <p:spPr>
          <a:xfrm>
            <a:off x="4416552" y="5193792"/>
            <a:ext cx="3337560" cy="950976"/>
          </a:xfrm>
          <a:prstGeom prst="rect">
            <a:avLst/>
          </a:prstGeom>
          <a:noFill/>
          <a:ln/>
        </p:spPr>
        <p:txBody>
          <a:bodyPr wrap="square" lIns="0" tIns="0" rIns="0" bIns="0" rtlCol="0" anchor="t"/>
          <a:lstStyle/>
          <a:p>
            <a:pPr indent="0" marL="0">
              <a:spcAft>
                <a:spcPts val="200"/>
              </a:spcAft>
              <a:buNone/>
            </a:pPr>
            <a:r>
              <a:rPr lang="en-US" sz="1400" b="1" dirty="0">
                <a:solidFill>
                  <a:srgbClr val="11845B"/>
                </a:solidFill>
              </a:rPr>
              <a:t>Europe ×0.79</a:t>
            </a:r>
            <a:endParaRPr lang="en-US" sz="1400" dirty="0"/>
          </a:p>
          <a:p>
            <a:pPr indent="0" marL="0">
              <a:spcAft>
                <a:spcPts val="200"/>
              </a:spcAft>
              <a:buNone/>
            </a:pPr>
            <a:r>
              <a:rPr lang="en-US" sz="1200" dirty="0">
                <a:solidFill>
                  <a:schemeClr val="tx1"/>
                </a:solidFill>
              </a:rPr>
              <a:t>Migration (×1.31) is the main force pushing up; without it Europe would change by −40%.</a:t>
            </a:r>
            <a:endParaRPr lang="en-US" sz="1400" dirty="0"/>
          </a:p>
        </p:txBody>
      </p:sp>
      <p:sp>
        <p:nvSpPr>
          <p:cNvPr id="11" name="Shape 7"/>
          <p:cNvSpPr/>
          <p:nvPr/>
        </p:nvSpPr>
        <p:spPr>
          <a:xfrm>
            <a:off x="8101584" y="5120640"/>
            <a:ext cx="3611880" cy="1097280"/>
          </a:xfrm>
          <a:prstGeom prst="roundRect">
            <a:avLst>
              <a:gd name="adj" fmla="val 8333"/>
            </a:avLst>
          </a:prstGeom>
          <a:solidFill>
            <a:schemeClr val="bg2"/>
          </a:solidFill>
          <a:ln w="12700">
            <a:solidFill>
              <a:schemeClr val="bg2"/>
            </a:solidFill>
            <a:prstDash val="solid"/>
          </a:ln>
        </p:spPr>
      </p:sp>
      <p:sp>
        <p:nvSpPr>
          <p:cNvPr id="12" name="Text 8"/>
          <p:cNvSpPr txBox="1"/>
          <p:nvPr/>
        </p:nvSpPr>
        <p:spPr>
          <a:xfrm>
            <a:off x="8238744" y="5193792"/>
            <a:ext cx="3337560" cy="950976"/>
          </a:xfrm>
          <a:prstGeom prst="rect">
            <a:avLst/>
          </a:prstGeom>
          <a:noFill/>
          <a:ln/>
        </p:spPr>
        <p:txBody>
          <a:bodyPr wrap="square" lIns="0" tIns="0" rIns="0" bIns="0" rtlCol="0" anchor="t"/>
          <a:lstStyle/>
          <a:p>
            <a:pPr indent="0" marL="0">
              <a:spcAft>
                <a:spcPts val="200"/>
              </a:spcAft>
              <a:buNone/>
            </a:pPr>
            <a:r>
              <a:rPr lang="en-US" sz="1400" b="1" dirty="0">
                <a:solidFill>
                  <a:schemeClr val="accent1"/>
                </a:solidFill>
              </a:rPr>
              <a:t>Robust to the method</a:t>
            </a:r>
            <a:endParaRPr lang="en-US" sz="1400" dirty="0"/>
          </a:p>
          <a:p>
            <a:pPr indent="0" marL="0">
              <a:spcAft>
                <a:spcPts val="200"/>
              </a:spcAft>
              <a:buNone/>
            </a:pPr>
            <a:r>
              <a:rPr lang="en-US" sz="1200" dirty="0">
                <a:solidFill>
                  <a:schemeClr val="tx1"/>
                </a:solidFill>
              </a:rPr>
              <a:t>Re-estimating each factor along a second chain of UN runs: r = 0.99 (fertility), 0.99 (migration); the largest driver is unchanged for 97% of countries.</a:t>
            </a:r>
            <a:endParaRPr lang="en-US" sz="14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lIns="0" tIns="0" rIns="0" bIns="0" rtlCol="0"/>
          <a:lstStyle/>
          <a:p>
            <a:pPr indent="0" marL="0">
              <a:buNone/>
            </a:pPr>
            <a:r>
              <a:rPr lang="en-US" sz="1100" b="1" spc="200" kern="0" dirty="0">
                <a:solidFill>
                  <a:schemeClr val="accent1"/>
                </a:solidFill>
              </a:rPr>
              <a:t>UNCERTAINTY &amp; ETHICS</a:t>
            </a: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lIns="0" tIns="0" rIns="0" bIns="0" rtlCol="0" anchor="t"/>
          <a:lstStyle/>
          <a:p>
            <a:pPr algn="l" indent="0" marL="0">
              <a:buNone/>
            </a:pPr>
            <a:r>
              <a:rPr lang="en-US" sz="3000" b="1" dirty="0">
                <a:solidFill>
                  <a:schemeClr val="tx2"/>
                </a:solidFill>
              </a:rPr>
              <a:t>Read these numbers as scenarios, not destinies</a:t>
            </a:r>
            <a:endParaRPr lang="en-US" sz="3000" dirty="0"/>
          </a:p>
        </p:txBody>
      </p:sp>
      <p:pic>
        <p:nvPicPr>
          <p:cNvPr id="4" name="Image 0" descr="Width of the UN 95% interval for 2100 against 2024 population for 234 countries; smaller places have much wider intervals.">    </p:cNvPr>
          <p:cNvPicPr>
            <a:picLocks noChangeAspect="1"/>
          </p:cNvPicPr>
          <p:nvPr/>
        </p:nvPicPr>
        <p:blipFill>
          <a:blip r:embed="rId1"/>
          <a:stretch>
            <a:fillRect/>
          </a:stretch>
        </p:blipFill>
        <p:spPr>
          <a:xfrm>
            <a:off x="457200" y="1234440"/>
            <a:ext cx="5212080" cy="3646384"/>
          </a:xfrm>
          <a:prstGeom prst="rect">
            <a:avLst/>
          </a:prstGeom>
        </p:spPr>
      </p:pic>
      <p:sp>
        <p:nvSpPr>
          <p:cNvPr id="5" name="Text 2"/>
          <p:cNvSpPr txBox="1"/>
          <p:nvPr/>
        </p:nvSpPr>
        <p:spPr>
          <a:xfrm>
            <a:off x="457200" y="4983480"/>
            <a:ext cx="5212080" cy="1371600"/>
          </a:xfrm>
          <a:prstGeom prst="rect">
            <a:avLst/>
          </a:prstGeom>
          <a:noFill/>
          <a:ln/>
        </p:spPr>
        <p:txBody>
          <a:bodyPr wrap="square" lIns="0" tIns="0" rIns="0" bIns="0" rtlCol="0" anchor="t"/>
          <a:lstStyle/>
          <a:p>
            <a:pPr indent="0" marL="0">
              <a:buNone/>
            </a:pPr>
            <a:r>
              <a:rPr lang="en-US" sz="1200" dirty="0">
                <a:solidFill>
                  <a:schemeClr val="tx1"/>
                </a:solidFill>
              </a:rPr>
              <a:t>The UN 95% interval for 2100 spans a factor of ×5.9 for the median country (world: 9.0–11.4 bn). Its width tracks population size (ρ = −0.67), not which engine drives growth (|ρ| ≤ 0.2). For Andorra, Hong Kong and Kuwait the lower bound is exactly 0 — a model artefact we flag rather than hide.</a:t>
            </a:r>
            <a:endParaRPr lang="en-US" sz="1200" dirty="0"/>
          </a:p>
        </p:txBody>
      </p:sp>
      <p:sp>
        <p:nvSpPr>
          <p:cNvPr id="6" name="Text 3"/>
          <p:cNvSpPr txBox="1"/>
          <p:nvPr/>
        </p:nvSpPr>
        <p:spPr>
          <a:xfrm>
            <a:off x="6126480" y="1234440"/>
            <a:ext cx="5623560" cy="365760"/>
          </a:xfrm>
          <a:prstGeom prst="rect">
            <a:avLst/>
          </a:prstGeom>
          <a:noFill/>
          <a:ln/>
        </p:spPr>
        <p:txBody>
          <a:bodyPr wrap="square" lIns="0" tIns="0" rIns="0" bIns="0" rtlCol="0" anchor="ctr"/>
          <a:lstStyle/>
          <a:p>
            <a:pPr indent="0" marL="0">
              <a:buNone/>
            </a:pPr>
            <a:r>
              <a:rPr lang="en-US" sz="1400" b="1" dirty="0">
                <a:solidFill>
                  <a:schemeClr val="tx2"/>
                </a:solidFill>
              </a:rPr>
              <a:t>Our ethical choices, following ASA's Ethical Guidelines (2022)</a:t>
            </a:r>
            <a:endParaRPr lang="en-US" sz="1400" dirty="0"/>
          </a:p>
        </p:txBody>
      </p:sp>
      <p:sp>
        <p:nvSpPr>
          <p:cNvPr id="7" name="Shape 4"/>
          <p:cNvSpPr/>
          <p:nvPr/>
        </p:nvSpPr>
        <p:spPr>
          <a:xfrm>
            <a:off x="6126480" y="1764792"/>
            <a:ext cx="438912" cy="438912"/>
          </a:xfrm>
          <a:prstGeom prst="ellipse">
            <a:avLst/>
          </a:prstGeom>
          <a:solidFill>
            <a:schemeClr val="tx2"/>
          </a:solidFill>
          <a:ln w="12700">
            <a:solidFill>
              <a:schemeClr val="tx2"/>
            </a:solidFill>
            <a:prstDash val="solid"/>
          </a:ln>
        </p:spPr>
      </p:sp>
      <p:sp>
        <p:nvSpPr>
          <p:cNvPr id="8" name="Text 5"/>
          <p:cNvSpPr txBox="1"/>
          <p:nvPr/>
        </p:nvSpPr>
        <p:spPr>
          <a:xfrm>
            <a:off x="6126480" y="176479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9" name="Text 6"/>
          <p:cNvSpPr txBox="1"/>
          <p:nvPr/>
        </p:nvSpPr>
        <p:spPr>
          <a:xfrm>
            <a:off x="6720840" y="1691640"/>
            <a:ext cx="5029200" cy="841248"/>
          </a:xfrm>
          <a:prstGeom prst="rect">
            <a:avLst/>
          </a:prstGeom>
          <a:noFill/>
          <a:ln/>
        </p:spPr>
        <p:txBody>
          <a:bodyPr wrap="square" lIns="0" tIns="0" rIns="0" bIns="0" rtlCol="0" anchor="t"/>
          <a:lstStyle/>
          <a:p>
            <a:pPr indent="0" marL="0">
              <a:buNone/>
            </a:pPr>
            <a:r>
              <a:rPr lang="en-US" sz="1300" b="1" dirty="0">
                <a:solidFill>
                  <a:schemeClr val="tx1"/>
                </a:solidFill>
              </a:rPr>
              <a:t>Projections are not data</a:t>
            </a:r>
            <a:endParaRPr lang="en-US" sz="1300" dirty="0"/>
          </a:p>
          <a:p>
            <a:pPr indent="0" marL="0">
              <a:buNone/>
            </a:pPr>
            <a:r>
              <a:rPr lang="en-US" sz="1100" dirty="0">
                <a:solidFill>
                  <a:schemeClr val="tx1"/>
                </a:solidFill>
              </a:rPr>
              <a:t>Every post-2023 value is a model scenario. We show UN intervals, state the chain-order assumption, and test it.</a:t>
            </a:r>
            <a:endParaRPr lang="en-US" sz="1300" dirty="0"/>
          </a:p>
        </p:txBody>
      </p:sp>
      <p:sp>
        <p:nvSpPr>
          <p:cNvPr id="10" name="Shape 7"/>
          <p:cNvSpPr/>
          <p:nvPr/>
        </p:nvSpPr>
        <p:spPr>
          <a:xfrm>
            <a:off x="6126480" y="2651760"/>
            <a:ext cx="438912" cy="438912"/>
          </a:xfrm>
          <a:prstGeom prst="ellipse">
            <a:avLst/>
          </a:prstGeom>
          <a:solidFill>
            <a:schemeClr val="tx2"/>
          </a:solidFill>
          <a:ln w="12700">
            <a:solidFill>
              <a:schemeClr val="tx2"/>
            </a:solidFill>
            <a:prstDash val="solid"/>
          </a:ln>
        </p:spPr>
      </p:sp>
      <p:sp>
        <p:nvSpPr>
          <p:cNvPr id="11" name="Text 8"/>
          <p:cNvSpPr txBox="1"/>
          <p:nvPr/>
        </p:nvSpPr>
        <p:spPr>
          <a:xfrm>
            <a:off x="6126480" y="26517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9"/>
          <p:cNvSpPr txBox="1"/>
          <p:nvPr/>
        </p:nvSpPr>
        <p:spPr>
          <a:xfrm>
            <a:off x="6720840" y="2578608"/>
            <a:ext cx="5029200" cy="841248"/>
          </a:xfrm>
          <a:prstGeom prst="rect">
            <a:avLst/>
          </a:prstGeom>
          <a:noFill/>
          <a:ln/>
        </p:spPr>
        <p:txBody>
          <a:bodyPr wrap="square" lIns="0" tIns="0" rIns="0" bIns="0" rtlCol="0" anchor="t"/>
          <a:lstStyle/>
          <a:p>
            <a:pPr indent="0" marL="0">
              <a:buNone/>
            </a:pPr>
            <a:r>
              <a:rPr lang="en-US" sz="1300" b="1" dirty="0">
                <a:solidFill>
                  <a:schemeClr val="tx1"/>
                </a:solidFill>
              </a:rPr>
              <a:t>Counterfactuals are not targets</a:t>
            </a:r>
            <a:endParaRPr lang="en-US" sz="1300" dirty="0"/>
          </a:p>
          <a:p>
            <a:pPr indent="0" marL="0">
              <a:buNone/>
            </a:pPr>
            <a:r>
              <a:rPr lang="en-US" sz="1100" dirty="0">
                <a:solidFill>
                  <a:schemeClr val="tx1"/>
                </a:solidFill>
              </a:rPr>
              <a:t>“Zero migration” and “replacement fertility” are accounting devices, not policy goals; childbearing is an individual right.</a:t>
            </a:r>
            <a:endParaRPr lang="en-US" sz="1300" dirty="0"/>
          </a:p>
        </p:txBody>
      </p:sp>
      <p:sp>
        <p:nvSpPr>
          <p:cNvPr id="13" name="Shape 10"/>
          <p:cNvSpPr/>
          <p:nvPr/>
        </p:nvSpPr>
        <p:spPr>
          <a:xfrm>
            <a:off x="6126480" y="3538728"/>
            <a:ext cx="438912" cy="438912"/>
          </a:xfrm>
          <a:prstGeom prst="ellipse">
            <a:avLst/>
          </a:prstGeom>
          <a:solidFill>
            <a:schemeClr val="tx2"/>
          </a:solidFill>
          <a:ln w="12700">
            <a:solidFill>
              <a:schemeClr val="tx2"/>
            </a:solidFill>
            <a:prstDash val="solid"/>
          </a:ln>
        </p:spPr>
      </p:sp>
      <p:sp>
        <p:nvSpPr>
          <p:cNvPr id="14" name="Text 11"/>
          <p:cNvSpPr txBox="1"/>
          <p:nvPr/>
        </p:nvSpPr>
        <p:spPr>
          <a:xfrm>
            <a:off x="6126480" y="35387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5" name="Text 12"/>
          <p:cNvSpPr txBox="1"/>
          <p:nvPr/>
        </p:nvSpPr>
        <p:spPr>
          <a:xfrm>
            <a:off x="6720840" y="3465576"/>
            <a:ext cx="5029200" cy="841248"/>
          </a:xfrm>
          <a:prstGeom prst="rect">
            <a:avLst/>
          </a:prstGeom>
          <a:noFill/>
          <a:ln/>
        </p:spPr>
        <p:txBody>
          <a:bodyPr wrap="square" lIns="0" tIns="0" rIns="0" bIns="0" rtlCol="0" anchor="t"/>
          <a:lstStyle/>
          <a:p>
            <a:pPr indent="0" marL="0">
              <a:buNone/>
            </a:pPr>
            <a:r>
              <a:rPr lang="en-US" sz="1300" b="1" dirty="0">
                <a:solidFill>
                  <a:schemeClr val="tx1"/>
                </a:solidFill>
              </a:rPr>
              <a:t>Respect the people counted</a:t>
            </a:r>
            <a:endParaRPr lang="en-US" sz="1300" dirty="0"/>
          </a:p>
          <a:p>
            <a:pPr indent="0" marL="0">
              <a:buNone/>
            </a:pPr>
            <a:r>
              <a:rPr lang="en-US" sz="1100" dirty="0">
                <a:solidFill>
                  <a:schemeClr val="tx1"/>
                </a:solidFill>
              </a:rPr>
              <a:t>Migration turns decline into growth for 21 countries. We report it descriptively and avoid “replacement” or crisis framing.</a:t>
            </a:r>
            <a:endParaRPr lang="en-US" sz="1300" dirty="0"/>
          </a:p>
        </p:txBody>
      </p:sp>
      <p:sp>
        <p:nvSpPr>
          <p:cNvPr id="16" name="Shape 13"/>
          <p:cNvSpPr/>
          <p:nvPr/>
        </p:nvSpPr>
        <p:spPr>
          <a:xfrm>
            <a:off x="6126480" y="4425696"/>
            <a:ext cx="438912" cy="438912"/>
          </a:xfrm>
          <a:prstGeom prst="ellipse">
            <a:avLst/>
          </a:prstGeom>
          <a:solidFill>
            <a:schemeClr val="tx2"/>
          </a:solidFill>
          <a:ln w="12700">
            <a:solidFill>
              <a:schemeClr val="tx2"/>
            </a:solidFill>
            <a:prstDash val="solid"/>
          </a:ln>
        </p:spPr>
      </p:sp>
      <p:sp>
        <p:nvSpPr>
          <p:cNvPr id="17" name="Text 14"/>
          <p:cNvSpPr txBox="1"/>
          <p:nvPr/>
        </p:nvSpPr>
        <p:spPr>
          <a:xfrm>
            <a:off x="6126480" y="442569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8" name="Text 15"/>
          <p:cNvSpPr txBox="1"/>
          <p:nvPr/>
        </p:nvSpPr>
        <p:spPr>
          <a:xfrm>
            <a:off x="6720840" y="4352544"/>
            <a:ext cx="5029200" cy="841248"/>
          </a:xfrm>
          <a:prstGeom prst="rect">
            <a:avLst/>
          </a:prstGeom>
          <a:noFill/>
          <a:ln/>
        </p:spPr>
        <p:txBody>
          <a:bodyPr wrap="square" lIns="0" tIns="0" rIns="0" bIns="0" rtlCol="0" anchor="t"/>
          <a:lstStyle/>
          <a:p>
            <a:pPr indent="0" marL="0">
              <a:buNone/>
            </a:pPr>
            <a:r>
              <a:rPr lang="en-US" sz="1300" b="1" dirty="0">
                <a:solidFill>
                  <a:schemeClr val="tx1"/>
                </a:solidFill>
              </a:rPr>
              <a:t>Weighting is a choice</a:t>
            </a:r>
            <a:endParaRPr lang="en-US" sz="1300" dirty="0"/>
          </a:p>
          <a:p>
            <a:pPr indent="0" marL="0">
              <a:buNone/>
            </a:pPr>
            <a:r>
              <a:rPr lang="en-US" sz="1100" dirty="0">
                <a:solidFill>
                  <a:schemeClr val="tx1"/>
                </a:solidFill>
              </a:rPr>
              <a:t>Counting countries treats Tuvalu like India. Weighted by population, migration's share of the variance falls from 9% to 1% — so we report both.</a:t>
            </a:r>
            <a:endParaRPr lang="en-US" sz="1300" dirty="0"/>
          </a:p>
        </p:txBody>
      </p:sp>
      <p:sp>
        <p:nvSpPr>
          <p:cNvPr id="19" name="Shape 16"/>
          <p:cNvSpPr/>
          <p:nvPr/>
        </p:nvSpPr>
        <p:spPr>
          <a:xfrm>
            <a:off x="6126480" y="5312664"/>
            <a:ext cx="438912" cy="438912"/>
          </a:xfrm>
          <a:prstGeom prst="ellipse">
            <a:avLst/>
          </a:prstGeom>
          <a:solidFill>
            <a:schemeClr val="tx2"/>
          </a:solidFill>
          <a:ln w="12700">
            <a:solidFill>
              <a:schemeClr val="tx2"/>
            </a:solidFill>
            <a:prstDash val="solid"/>
          </a:ln>
        </p:spPr>
      </p:sp>
      <p:sp>
        <p:nvSpPr>
          <p:cNvPr id="20" name="Text 17"/>
          <p:cNvSpPr txBox="1"/>
          <p:nvPr/>
        </p:nvSpPr>
        <p:spPr>
          <a:xfrm>
            <a:off x="6126480" y="531266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1" name="Text 18"/>
          <p:cNvSpPr txBox="1"/>
          <p:nvPr/>
        </p:nvSpPr>
        <p:spPr>
          <a:xfrm>
            <a:off x="6720840" y="5239512"/>
            <a:ext cx="5029200" cy="841248"/>
          </a:xfrm>
          <a:prstGeom prst="rect">
            <a:avLst/>
          </a:prstGeom>
          <a:noFill/>
          <a:ln/>
        </p:spPr>
        <p:txBody>
          <a:bodyPr wrap="square" lIns="0" tIns="0" rIns="0" bIns="0" rtlCol="0" anchor="t"/>
          <a:lstStyle/>
          <a:p>
            <a:pPr indent="0" marL="0">
              <a:buNone/>
            </a:pPr>
            <a:r>
              <a:rPr lang="en-US" sz="1300" b="1" dirty="0">
                <a:solidFill>
                  <a:schemeClr val="tx1"/>
                </a:solidFill>
              </a:rPr>
              <a:t>Open and reproducible</a:t>
            </a:r>
            <a:endParaRPr lang="en-US" sz="1300" dirty="0"/>
          </a:p>
          <a:p>
            <a:pPr indent="0" marL="0">
              <a:buNone/>
            </a:pPr>
            <a:r>
              <a:rPr lang="en-US" sz="1100" dirty="0">
                <a:solidFill>
                  <a:schemeClr val="tx1"/>
                </a:solidFill>
              </a:rPr>
              <a:t>All code is public; each number is regenerated from the raw UN files with built-in checks.</a:t>
            </a:r>
            <a:endParaRPr lang="en-US" sz="1300" dirty="0"/>
          </a:p>
        </p:txBody>
      </p:sp>
      <p:sp>
        <p:nvSpPr>
          <p:cNvPr id="22" name="Text 19"/>
          <p:cNvSpPr txBox="1"/>
          <p:nvPr/>
        </p:nvSpPr>
        <p:spPr>
          <a:xfrm>
            <a:off x="6126480" y="6126480"/>
            <a:ext cx="5623560" cy="320040"/>
          </a:xfrm>
          <a:prstGeom prst="rect">
            <a:avLst/>
          </a:prstGeom>
          <a:noFill/>
          <a:ln/>
        </p:spPr>
        <p:txBody>
          <a:bodyPr wrap="square" lIns="0" tIns="0" rIns="0" bIns="0" rtlCol="0" anchor="t"/>
          <a:lstStyle/>
          <a:p>
            <a:pPr indent="0" marL="0">
              <a:buNone/>
            </a:pPr>
            <a:r>
              <a:rPr lang="en-US" sz="900" dirty="0">
                <a:solidFill>
                  <a:schemeClr val="accent5"/>
                </a:solidFill>
              </a:rPr>
              <a:t>Letters = ASA principles: A integrity &amp; accountability · B integrity of data &amp; methods · C stakeholders · D those affected. UN location names are used as published and imply no position on legal status.</a:t>
            </a:r>
            <a:endParaRPr lang="en-US" sz="9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11247120" cy="274320"/>
          </a:xfrm>
          <a:prstGeom prst="rect">
            <a:avLst/>
          </a:prstGeom>
          <a:noFill/>
          <a:ln/>
        </p:spPr>
        <p:txBody>
          <a:bodyPr wrap="square" lIns="0" tIns="0" rIns="0" bIns="0" rtlCol="0"/>
          <a:lstStyle/>
          <a:p>
            <a:pPr indent="0" marL="0">
              <a:buNone/>
            </a:pPr>
            <a:r>
              <a:rPr lang="en-US" sz="1100" b="1" spc="200" kern="0" dirty="0">
                <a:solidFill>
                  <a:schemeClr val="accent1"/>
                </a:solidFill>
              </a:rPr>
              <a:t>REFERENCES</a:t>
            </a:r>
            <a:endParaRPr lang="en-US" sz="1100" dirty="0"/>
          </a:p>
        </p:txBody>
      </p:sp>
      <p:sp>
        <p:nvSpPr>
          <p:cNvPr id="3" name="Text 0"/>
          <p:cNvSpPr/>
          <p:nvPr>
            <p:ph idx="101" type="title" hasCustomPrompt="1"/>
          </p:nvPr>
        </p:nvSpPr>
        <p:spPr>
          <a:xfrm>
            <a:off x="457200" y="502920"/>
            <a:ext cx="11247120" cy="640080"/>
          </a:xfrm>
          <a:prstGeom prst="rect">
            <a:avLst/>
          </a:prstGeom>
          <a:noFill/>
          <a:ln/>
        </p:spPr>
        <p:txBody>
          <a:bodyPr wrap="square" lIns="0" tIns="0" rIns="0" bIns="0" rtlCol="0" anchor="t"/>
          <a:lstStyle/>
          <a:p>
            <a:pPr algn="l" indent="0" marL="0">
              <a:buNone/>
            </a:pPr>
            <a:r>
              <a:rPr lang="en-US" sz="3000" b="1" dirty="0">
                <a:solidFill>
                  <a:schemeClr val="tx2"/>
                </a:solidFill>
              </a:rPr>
              <a:t>Sources and code</a:t>
            </a:r>
            <a:endParaRPr lang="en-US" sz="3000" dirty="0"/>
          </a:p>
        </p:txBody>
      </p:sp>
      <p:sp>
        <p:nvSpPr>
          <p:cNvPr id="4" name="Text 2"/>
          <p:cNvSpPr txBox="1"/>
          <p:nvPr/>
        </p:nvSpPr>
        <p:spPr>
          <a:xfrm>
            <a:off x="457200" y="1325880"/>
            <a:ext cx="11247120" cy="48463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chemeClr val="tx1"/>
                </a:solidFill>
              </a:rPr>
              <a:t>United Nations, Department of Economic and Social Affairs, Population Division (2024). World Population Prospects 2024, Online Edition. Demographic Indicators (Medium and other variants) and supplement on births by sex and life expectancy at 60. CC BY 3.0 IGO.</a:t>
            </a:r>
            <a:endParaRPr lang="en-US" sz="1400" dirty="0"/>
          </a:p>
          <a:p>
            <a:pPr marL="342900" indent="-342900">
              <a:spcAft>
                <a:spcPts val="1000"/>
              </a:spcAft>
              <a:buSzPct val="100000"/>
              <a:buFont typeface="+mj-lt"/>
              <a:buAutoNum type="arabicPeriod" startAt="1"/>
            </a:pPr>
            <a:r>
              <a:rPr lang="en-US" sz="1400" dirty="0">
                <a:solidFill>
                  <a:schemeClr val="tx1"/>
                </a:solidFill>
              </a:rPr>
              <a:t>Andreev, K., Kantorová, V. &amp; Bongaarts, J. (2013). Demographic components of future population growth. UN Population Division, Technical Paper No. 2013/3.</a:t>
            </a:r>
            <a:endParaRPr lang="en-US" sz="1400" dirty="0"/>
          </a:p>
          <a:p>
            <a:pPr marL="342900" indent="-342900">
              <a:spcAft>
                <a:spcPts val="1000"/>
              </a:spcAft>
              <a:buSzPct val="100000"/>
              <a:buFont typeface="+mj-lt"/>
              <a:buAutoNum type="arabicPeriod" startAt="1"/>
            </a:pPr>
            <a:r>
              <a:rPr lang="en-US" sz="1400" dirty="0">
                <a:solidFill>
                  <a:schemeClr val="tx1"/>
                </a:solidFill>
              </a:rPr>
              <a:t>Bongaarts, J. (1994). Population policy options in the developing world. Science, 263(5148), 771–776.</a:t>
            </a:r>
            <a:endParaRPr lang="en-US" sz="1400" dirty="0"/>
          </a:p>
          <a:p>
            <a:pPr marL="342900" indent="-342900">
              <a:spcAft>
                <a:spcPts val="1000"/>
              </a:spcAft>
              <a:buSzPct val="100000"/>
              <a:buFont typeface="+mj-lt"/>
              <a:buAutoNum type="arabicPeriod" startAt="1"/>
            </a:pPr>
            <a:r>
              <a:rPr lang="en-US" sz="1400" dirty="0">
                <a:solidFill>
                  <a:schemeClr val="tx1"/>
                </a:solidFill>
              </a:rPr>
              <a:t>Keyfitz, N. (1971). On the momentum of population growth. Demography, 8(1), 71–80.</a:t>
            </a:r>
            <a:endParaRPr lang="en-US" sz="1400" dirty="0"/>
          </a:p>
          <a:p>
            <a:pPr marL="342900" indent="-342900">
              <a:spcAft>
                <a:spcPts val="1000"/>
              </a:spcAft>
              <a:buSzPct val="100000"/>
              <a:buFont typeface="+mj-lt"/>
              <a:buAutoNum type="arabicPeriod" startAt="1"/>
            </a:pPr>
            <a:r>
              <a:rPr lang="en-US" sz="1400" dirty="0">
                <a:solidFill>
                  <a:schemeClr val="tx1"/>
                </a:solidFill>
              </a:rPr>
              <a:t>Raftery, A. E., Li, N., Ševčíková, H., Gerland, P. &amp; Heilig, G. K. (2012). Bayesian probabilistic population projections for all countries. PNAS, 109(35), 13915–13921.</a:t>
            </a:r>
            <a:endParaRPr lang="en-US" sz="1400" dirty="0"/>
          </a:p>
          <a:p>
            <a:pPr marL="342900" indent="-342900">
              <a:spcAft>
                <a:spcPts val="1000"/>
              </a:spcAft>
              <a:buSzPct val="100000"/>
              <a:buFont typeface="+mj-lt"/>
              <a:buAutoNum type="arabicPeriod" startAt="1"/>
            </a:pPr>
            <a:r>
              <a:rPr lang="en-US" sz="1400" dirty="0">
                <a:solidFill>
                  <a:schemeClr val="tx1"/>
                </a:solidFill>
              </a:rPr>
              <a:t>American Statistical Association (2022). Ethical Guidelines for Statistical Practice.</a:t>
            </a:r>
            <a:endParaRPr lang="en-US" sz="1400" dirty="0"/>
          </a:p>
          <a:p>
            <a:pPr marL="342900" indent="-342900">
              <a:spcAft>
                <a:spcPts val="1000"/>
              </a:spcAft>
              <a:buSzPct val="100000"/>
              <a:buFont typeface="+mj-lt"/>
              <a:buAutoNum type="arabicPeriod" startAt="1"/>
            </a:pPr>
            <a:r>
              <a:rPr lang="en-US" sz="1400" dirty="0">
                <a:solidFill>
                  <a:schemeClr val="tx1"/>
                </a:solidFill>
              </a:rPr>
              <a:t>Code and data pipeline: github.com/idiltuzkaya/asa_dataquest (cleaning, decomposition, figures; all numbers regenerate from the raw UN files).</a:t>
            </a:r>
            <a:endParaRPr lang="en-US" sz="1400" dirty="0"/>
          </a:p>
        </p:txBody>
      </p:sp>
      <p:sp>
        <p:nvSpPr>
          <p:cNvPr id="25" name="Slide Number Placeholder 0"/>
          <p:cNvSpPr>
            <a:spLocks noGrp="1"/>
          </p:cNvSpPr>
          <p:nvPr>
            <p:ph type="sldNum" sz="quarter" idx="4294967295"/>
          </p:nvPr>
        </p:nvSpPr>
        <p:spPr>
          <a:xfrm>
            <a:off x="11247120" y="649224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lready Baked In">
  <a:themeElements>
    <a:clrScheme name="Already Baked In">
      <a:dk1>
        <a:srgbClr val="0B0B0B"/>
      </a:dk1>
      <a:lt1>
        <a:srgbClr val="FFFFFF"/>
      </a:lt1>
      <a:dk2>
        <a:srgbClr val="14213D"/>
      </a:dk2>
      <a:lt2>
        <a:srgbClr val="F4F3F0"/>
      </a:lt2>
      <a:accent1>
        <a:srgbClr val="2A78D6"/>
      </a:accent1>
      <a:accent2>
        <a:srgbClr val="EB6834"/>
      </a:accent2>
      <a:accent3>
        <a:srgbClr val="1BAF7A"/>
      </a:accent3>
      <a:accent4>
        <a:srgbClr val="8D8B85"/>
      </a:accent4>
      <a:accent5>
        <a:srgbClr val="52514E"/>
      </a:accent5>
      <a:accent6>
        <a:srgbClr val="B9B7B0"/>
      </a:accent6>
      <a:hlink>
        <a:srgbClr val="2A78D6"/>
      </a:hlink>
      <a:folHlink>
        <a:srgbClr val="52514E"/>
      </a:folHlink>
    </a:clrScheme>
    <a:fontScheme name="Already Baked 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Already Baked In — ASA DataQuest 2026</dc:title>
  <dc:subject>PptxGenJS Presentation</dc:subject>
  <dc:creator>ASA DataQuest 2026 team</dc:creator>
  <cp:lastModifiedBy>ASA DataQuest 2026 team</cp:lastModifiedBy>
  <cp:revision>1</cp:revision>
  <dcterms:created xsi:type="dcterms:W3CDTF">2026-10-18T18:59:55Z</dcterms:created>
  <dcterms:modified xsi:type="dcterms:W3CDTF">2026-10-18T18:59:55Z</dcterms:modified>
</cp:coreProperties>
</file>